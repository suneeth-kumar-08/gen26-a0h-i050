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0F0E6"/>
          </a:solidFill>
          <a:ln/>
        </p:spPr>
      </p:sp>
      <p:sp>
        <p:nvSpPr>
          <p:cNvPr id="3" name="Shape 1"/>
          <p:cNvSpPr/>
          <p:nvPr/>
        </p:nvSpPr>
        <p:spPr>
          <a:xfrm>
            <a:off x="0" y="621792"/>
            <a:ext cx="9144000" cy="27432"/>
          </a:xfrm>
          <a:prstGeom prst="rect">
            <a:avLst/>
          </a:prstGeom>
          <a:solidFill>
            <a:srgbClr val="256A47"/>
          </a:solidFill>
          <a:ln/>
        </p:spPr>
      </p:sp>
      <p:pic>
        <p:nvPicPr>
          <p:cNvPr id="4" name="Image 0" descr="genesis.png">    </p:cNvPr>
          <p:cNvPicPr>
            <a:picLocks noChangeAspect="1"/>
          </p:cNvPicPr>
          <p:nvPr/>
        </p:nvPicPr>
        <p:blipFill>
          <a:blip r:embed="rId1"/>
          <a:stretch>
            <a:fillRect/>
          </a:stretch>
        </p:blipFill>
        <p:spPr>
          <a:xfrm>
            <a:off x="7973568" y="91440"/>
            <a:ext cx="521208" cy="429768"/>
          </a:xfrm>
          <a:prstGeom prst="rect">
            <a:avLst/>
          </a:prstGeom>
        </p:spPr>
      </p:pic>
      <p:sp>
        <p:nvSpPr>
          <p:cNvPr id="5" name="Shape 2"/>
          <p:cNvSpPr/>
          <p:nvPr/>
        </p:nvSpPr>
        <p:spPr>
          <a:xfrm>
            <a:off x="0" y="6583680"/>
            <a:ext cx="9144000" cy="274320"/>
          </a:xfrm>
          <a:prstGeom prst="rect">
            <a:avLst/>
          </a:prstGeom>
          <a:solidFill>
            <a:srgbClr val="E0F0E6"/>
          </a:solidFill>
          <a:ln/>
        </p:spPr>
      </p:sp>
      <p:sp>
        <p:nvSpPr>
          <p:cNvPr id="6" name="Text 3"/>
          <p:cNvSpPr/>
          <p:nvPr/>
        </p:nvSpPr>
        <p:spPr>
          <a:xfrm>
            <a:off x="640080" y="6583680"/>
            <a:ext cx="3657600" cy="274320"/>
          </a:xfrm>
          <a:prstGeom prst="rect">
            <a:avLst/>
          </a:prstGeom>
          <a:noFill/>
          <a:ln/>
        </p:spPr>
        <p:txBody>
          <a:bodyPr wrap="square" lIns="0" tIns="0" rIns="0" bIns="0" rtlCol="0" anchor="ctr"/>
          <a:lstStyle/>
          <a:p>
            <a:pPr indent="0" marL="0">
              <a:buNone/>
            </a:pPr>
            <a:r>
              <a:rPr lang="en-US" sz="800" b="1" dirty="0">
                <a:solidFill>
                  <a:srgbClr val="1B4D36"/>
                </a:solidFill>
                <a:latin typeface="Calibri" pitchFamily="34" charset="0"/>
                <a:ea typeface="Calibri" pitchFamily="34" charset="-122"/>
                <a:cs typeface="Calibri" pitchFamily="34" charset="-120"/>
              </a:rPr>
              <a:t>GEN26-A0H-I050 | Mind Crafters</a:t>
            </a:r>
            <a:endParaRPr lang="en-US" sz="800" dirty="0"/>
          </a:p>
        </p:txBody>
      </p:sp>
      <p:sp>
        <p:nvSpPr>
          <p:cNvPr id="7" name="Text 4"/>
          <p:cNvSpPr/>
          <p:nvPr/>
        </p:nvSpPr>
        <p:spPr>
          <a:xfrm>
            <a:off x="4846320" y="6583680"/>
            <a:ext cx="3657600" cy="274320"/>
          </a:xfrm>
          <a:prstGeom prst="rect">
            <a:avLst/>
          </a:prstGeom>
          <a:noFill/>
          <a:ln/>
        </p:spPr>
        <p:txBody>
          <a:bodyPr wrap="square" lIns="0" tIns="0" rIns="0" bIns="0" rtlCol="0" anchor="ctr"/>
          <a:lstStyle/>
          <a:p>
            <a:pPr algn="r" indent="0" marL="0">
              <a:buNone/>
            </a:pPr>
            <a:r>
              <a:rPr lang="en-US" sz="800" b="1" dirty="0">
                <a:solidFill>
                  <a:srgbClr val="1B4D36"/>
                </a:solidFill>
                <a:latin typeface="Calibri" pitchFamily="34" charset="0"/>
                <a:ea typeface="Calibri" pitchFamily="34" charset="-122"/>
                <a:cs typeface="Calibri" pitchFamily="34" charset="-120"/>
              </a:rPr>
              <a:t>11th October 2026</a:t>
            </a:r>
            <a:endParaRPr lang="en-US" sz="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UTLIN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0F0E6"/>
          </a:solidFill>
          <a:ln/>
        </p:spPr>
      </p:sp>
      <p:sp>
        <p:nvSpPr>
          <p:cNvPr id="3" name="Shape 1"/>
          <p:cNvSpPr/>
          <p:nvPr/>
        </p:nvSpPr>
        <p:spPr>
          <a:xfrm>
            <a:off x="0" y="621792"/>
            <a:ext cx="9144000" cy="27432"/>
          </a:xfrm>
          <a:prstGeom prst="rect">
            <a:avLst/>
          </a:prstGeom>
          <a:solidFill>
            <a:srgbClr val="256A47"/>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4A33"/>
          </a:solidFill>
          <a:ln w="12700">
            <a:solidFill>
              <a:srgbClr val="144A33"/>
            </a:solidFill>
            <a:prstDash val="solid"/>
          </a:ln>
        </p:spPr>
      </p:sp>
      <p:pic>
        <p:nvPicPr>
          <p:cNvPr id="3" name="Image 0" descr="amrita.png">    </p:cNvPr>
          <p:cNvPicPr>
            <a:picLocks noChangeAspect="1"/>
          </p:cNvPicPr>
          <p:nvPr/>
        </p:nvPicPr>
        <p:blipFill>
          <a:blip r:embed="rId1"/>
          <a:stretch>
            <a:fillRect/>
          </a:stretch>
        </p:blipFill>
        <p:spPr>
          <a:xfrm>
            <a:off x="1700784" y="740664"/>
            <a:ext cx="2212848" cy="941832"/>
          </a:xfrm>
          <a:prstGeom prst="rect">
            <a:avLst/>
          </a:prstGeom>
        </p:spPr>
      </p:pic>
      <p:pic>
        <p:nvPicPr>
          <p:cNvPr id="4" name="Image 1" descr="iic.png">    </p:cNvPr>
          <p:cNvPicPr>
            <a:picLocks noChangeAspect="1"/>
          </p:cNvPicPr>
          <p:nvPr/>
        </p:nvPicPr>
        <p:blipFill>
          <a:blip r:embed="rId2"/>
          <a:stretch>
            <a:fillRect/>
          </a:stretch>
        </p:blipFill>
        <p:spPr>
          <a:xfrm>
            <a:off x="4443984" y="850392"/>
            <a:ext cx="1664208" cy="722376"/>
          </a:xfrm>
          <a:prstGeom prst="rect">
            <a:avLst/>
          </a:prstGeom>
        </p:spPr>
      </p:pic>
      <p:pic>
        <p:nvPicPr>
          <p:cNvPr id="5" name="Image 2" descr="genesis.png">    </p:cNvPr>
          <p:cNvPicPr>
            <a:picLocks noChangeAspect="1"/>
          </p:cNvPicPr>
          <p:nvPr/>
        </p:nvPicPr>
        <p:blipFill>
          <a:blip r:embed="rId3"/>
          <a:stretch>
            <a:fillRect/>
          </a:stretch>
        </p:blipFill>
        <p:spPr>
          <a:xfrm>
            <a:off x="6766560" y="850392"/>
            <a:ext cx="640080" cy="521208"/>
          </a:xfrm>
          <a:prstGeom prst="rect">
            <a:avLst/>
          </a:prstGeom>
        </p:spPr>
      </p:pic>
      <p:sp>
        <p:nvSpPr>
          <p:cNvPr id="6" name="Shape 1"/>
          <p:cNvSpPr/>
          <p:nvPr/>
        </p:nvSpPr>
        <p:spPr>
          <a:xfrm>
            <a:off x="640080" y="1920240"/>
            <a:ext cx="7863840" cy="27432"/>
          </a:xfrm>
          <a:prstGeom prst="rect">
            <a:avLst/>
          </a:prstGeom>
          <a:solidFill>
            <a:srgbClr val="DDEFE6"/>
          </a:solidFill>
          <a:ln w="12700">
            <a:solidFill>
              <a:srgbClr val="DDEFE6"/>
            </a:solidFill>
            <a:prstDash val="solid"/>
          </a:ln>
        </p:spPr>
      </p:sp>
      <p:sp>
        <p:nvSpPr>
          <p:cNvPr id="7" name="Shape 2"/>
          <p:cNvSpPr/>
          <p:nvPr/>
        </p:nvSpPr>
        <p:spPr>
          <a:xfrm>
            <a:off x="640080" y="2414016"/>
            <a:ext cx="1737360" cy="73152"/>
          </a:xfrm>
          <a:prstGeom prst="rect">
            <a:avLst/>
          </a:prstGeom>
          <a:solidFill>
            <a:srgbClr val="256A47"/>
          </a:solidFill>
          <a:ln w="12700">
            <a:solidFill>
              <a:srgbClr val="256A47"/>
            </a:solidFill>
            <a:prstDash val="solid"/>
          </a:ln>
        </p:spPr>
      </p:sp>
      <p:sp>
        <p:nvSpPr>
          <p:cNvPr id="8" name="Text 3"/>
          <p:cNvSpPr txBox="1"/>
          <p:nvPr/>
        </p:nvSpPr>
        <p:spPr>
          <a:xfrm>
            <a:off x="640080" y="2651760"/>
            <a:ext cx="7863840" cy="548640"/>
          </a:xfrm>
          <a:prstGeom prst="rect">
            <a:avLst/>
          </a:prstGeom>
          <a:noFill/>
          <a:ln/>
        </p:spPr>
        <p:txBody>
          <a:bodyPr wrap="square" lIns="0" tIns="0" rIns="0" bIns="0" rtlCol="0" anchor="ctr"/>
          <a:lstStyle/>
          <a:p>
            <a:pPr indent="0" marL="0">
              <a:buNone/>
            </a:pPr>
            <a:r>
              <a:rPr lang="en-US" sz="2600" b="1" dirty="0">
                <a:solidFill>
                  <a:srgbClr val="1B4D36"/>
                </a:solidFill>
                <a:latin typeface="Calibri" pitchFamily="34" charset="0"/>
                <a:ea typeface="Calibri" pitchFamily="34" charset="-122"/>
                <a:cs typeface="Calibri" pitchFamily="34" charset="-120"/>
              </a:rPr>
              <a:t>Genesis Ideathon: Final Presentation</a:t>
            </a:r>
            <a:endParaRPr lang="en-US" sz="2600" dirty="0"/>
          </a:p>
        </p:txBody>
      </p:sp>
      <p:sp>
        <p:nvSpPr>
          <p:cNvPr id="9" name="Shape 4"/>
          <p:cNvSpPr/>
          <p:nvPr/>
        </p:nvSpPr>
        <p:spPr>
          <a:xfrm>
            <a:off x="658368" y="3364992"/>
            <a:ext cx="7863840" cy="1700784"/>
          </a:xfrm>
          <a:prstGeom prst="roundRect">
            <a:avLst>
              <a:gd name="adj" fmla="val 5376"/>
            </a:avLst>
          </a:prstGeom>
          <a:solidFill>
            <a:srgbClr val="E0F0E6"/>
          </a:solidFill>
          <a:ln w="12700">
            <a:solidFill>
              <a:srgbClr val="E0F0E6"/>
            </a:solidFill>
            <a:prstDash val="solid"/>
          </a:ln>
        </p:spPr>
      </p:sp>
      <p:sp>
        <p:nvSpPr>
          <p:cNvPr id="10" name="Shape 5"/>
          <p:cNvSpPr/>
          <p:nvPr/>
        </p:nvSpPr>
        <p:spPr>
          <a:xfrm>
            <a:off x="658368" y="3364992"/>
            <a:ext cx="64008" cy="1700784"/>
          </a:xfrm>
          <a:prstGeom prst="roundRect">
            <a:avLst>
              <a:gd name="adj" fmla="val 42857"/>
            </a:avLst>
          </a:prstGeom>
          <a:solidFill>
            <a:srgbClr val="256A47"/>
          </a:solidFill>
          <a:ln w="12700">
            <a:solidFill>
              <a:srgbClr val="256A47"/>
            </a:solidFill>
            <a:prstDash val="solid"/>
          </a:ln>
        </p:spPr>
      </p:sp>
      <p:sp>
        <p:nvSpPr>
          <p:cNvPr id="11" name="Text 6"/>
          <p:cNvSpPr txBox="1"/>
          <p:nvPr/>
        </p:nvSpPr>
        <p:spPr>
          <a:xfrm>
            <a:off x="914400" y="3429000"/>
            <a:ext cx="7498080" cy="1572768"/>
          </a:xfrm>
          <a:prstGeom prst="rect">
            <a:avLst/>
          </a:prstGeom>
          <a:noFill/>
          <a:ln/>
        </p:spPr>
        <p:txBody>
          <a:bodyPr wrap="square" lIns="0" tIns="0" rIns="0" bIns="0" rtlCol="0" anchor="ctr"/>
          <a:lstStyle/>
          <a:p>
            <a:pPr indent="0" marL="0">
              <a:spcAft>
                <a:spcPts val="1000"/>
              </a:spcAft>
              <a:buNone/>
            </a:pPr>
            <a:r>
              <a:rPr lang="en-US" sz="1800" dirty="0">
                <a:solidFill>
                  <a:srgbClr val="000000"/>
                </a:solidFill>
                <a:latin typeface="Calibri" pitchFamily="34" charset="0"/>
                <a:ea typeface="Calibri" pitchFamily="34" charset="-122"/>
                <a:cs typeface="Calibri" pitchFamily="34" charset="-120"/>
              </a:rPr>
              <a:t>Team ID: </a:t>
            </a:r>
            <a:pPr indent="0" marL="0">
              <a:spcAft>
                <a:spcPts val="1000"/>
              </a:spcAft>
              <a:buNone/>
            </a:pPr>
            <a:r>
              <a:rPr lang="en-US" sz="1800" i="1" dirty="0">
                <a:solidFill>
                  <a:srgbClr val="000000"/>
                </a:solidFill>
                <a:latin typeface="Calibri" pitchFamily="34" charset="0"/>
                <a:ea typeface="Calibri" pitchFamily="34" charset="-122"/>
                <a:cs typeface="Calibri" pitchFamily="34" charset="-120"/>
              </a:rPr>
              <a:t>GEN26-A0H-I050</a:t>
            </a:r>
            <a:endParaRPr lang="en-US" sz="1800" dirty="0"/>
          </a:p>
          <a:p>
            <a:pPr indent="0" marL="0">
              <a:spcAft>
                <a:spcPts val="1000"/>
              </a:spcAft>
              <a:buNone/>
            </a:pPr>
            <a:r>
              <a:rPr lang="en-US" sz="1800" dirty="0">
                <a:solidFill>
                  <a:srgbClr val="000000"/>
                </a:solidFill>
                <a:latin typeface="Calibri" pitchFamily="34" charset="0"/>
                <a:ea typeface="Calibri" pitchFamily="34" charset="-122"/>
                <a:cs typeface="Calibri" pitchFamily="34" charset="-120"/>
              </a:rPr>
              <a:t>Team Name: </a:t>
            </a:r>
            <a:pPr indent="0" marL="0">
              <a:spcAft>
                <a:spcPts val="1000"/>
              </a:spcAft>
              <a:buNone/>
            </a:pPr>
            <a:r>
              <a:rPr lang="en-US" sz="1800" i="1" dirty="0">
                <a:solidFill>
                  <a:srgbClr val="000000"/>
                </a:solidFill>
                <a:latin typeface="Calibri" pitchFamily="34" charset="0"/>
                <a:ea typeface="Calibri" pitchFamily="34" charset="-122"/>
                <a:cs typeface="Calibri" pitchFamily="34" charset="-120"/>
              </a:rPr>
              <a:t>Mind Crafters</a:t>
            </a:r>
            <a:endParaRPr lang="en-US" sz="1800" dirty="0"/>
          </a:p>
          <a:p>
            <a:pPr indent="0" marL="0">
              <a:spcAft>
                <a:spcPts val="1000"/>
              </a:spcAft>
              <a:buNone/>
            </a:pPr>
            <a:r>
              <a:rPr lang="en-US" sz="1800" dirty="0">
                <a:solidFill>
                  <a:srgbClr val="000000"/>
                </a:solidFill>
                <a:latin typeface="Calibri" pitchFamily="34" charset="0"/>
                <a:ea typeface="Calibri" pitchFamily="34" charset="-122"/>
                <a:cs typeface="Calibri" pitchFamily="34" charset="-120"/>
              </a:rPr>
              <a:t>Domain: </a:t>
            </a:r>
            <a:pPr indent="0" marL="0">
              <a:spcAft>
                <a:spcPts val="1000"/>
              </a:spcAft>
              <a:buNone/>
            </a:pPr>
            <a:r>
              <a:rPr lang="en-US" sz="1800" i="1" dirty="0">
                <a:solidFill>
                  <a:srgbClr val="000000"/>
                </a:solidFill>
                <a:latin typeface="Calibri" pitchFamily="34" charset="0"/>
                <a:ea typeface="Calibri" pitchFamily="34" charset="-122"/>
                <a:cs typeface="Calibri" pitchFamily="34" charset="-120"/>
              </a:rPr>
              <a:t>Energy, Mobility and Smart Infrastructure</a:t>
            </a:r>
            <a:endParaRPr lang="en-US" sz="1800" dirty="0"/>
          </a:p>
        </p:txBody>
      </p:sp>
      <p:sp>
        <p:nvSpPr>
          <p:cNvPr id="12" name="Text 7"/>
          <p:cNvSpPr txBox="1"/>
          <p:nvPr/>
        </p:nvSpPr>
        <p:spPr>
          <a:xfrm>
            <a:off x="640080" y="5486400"/>
            <a:ext cx="4754880" cy="320040"/>
          </a:xfrm>
          <a:prstGeom prst="rect">
            <a:avLst/>
          </a:prstGeom>
          <a:noFill/>
          <a:ln/>
        </p:spPr>
        <p:txBody>
          <a:bodyPr wrap="square" lIns="0" tIns="0" rIns="0" bIns="0" rtlCol="0" anchor="ctr"/>
          <a:lstStyle/>
          <a:p>
            <a:pPr indent="0" marL="0">
              <a:buNone/>
            </a:pPr>
            <a:r>
              <a:rPr lang="en-US" sz="1300" dirty="0">
                <a:solidFill>
                  <a:srgbClr val="1B4D36"/>
                </a:solidFill>
                <a:latin typeface="Calibri" pitchFamily="34" charset="0"/>
                <a:ea typeface="Calibri" pitchFamily="34" charset="-122"/>
                <a:cs typeface="Calibri" pitchFamily="34" charset="-120"/>
              </a:rPr>
              <a:t>Amrita Vishwa Vidyapeetham, Coimbatore Campus</a:t>
            </a:r>
            <a:endParaRPr lang="en-US" sz="1300" dirty="0"/>
          </a:p>
        </p:txBody>
      </p:sp>
      <p:sp>
        <p:nvSpPr>
          <p:cNvPr id="13" name="Text 8"/>
          <p:cNvSpPr txBox="1"/>
          <p:nvPr/>
        </p:nvSpPr>
        <p:spPr>
          <a:xfrm>
            <a:off x="5394960" y="5486400"/>
            <a:ext cx="3108960" cy="320040"/>
          </a:xfrm>
          <a:prstGeom prst="rect">
            <a:avLst/>
          </a:prstGeom>
          <a:noFill/>
          <a:ln/>
        </p:spPr>
        <p:txBody>
          <a:bodyPr wrap="square" lIns="0" tIns="0" rIns="0" bIns="0" rtlCol="0" anchor="ctr"/>
          <a:lstStyle/>
          <a:p>
            <a:pPr algn="r" indent="0" marL="0">
              <a:buNone/>
            </a:pPr>
            <a:r>
              <a:rPr lang="en-US" sz="1300" b="1" dirty="0">
                <a:solidFill>
                  <a:srgbClr val="1B4D36"/>
                </a:solidFill>
                <a:latin typeface="Calibri" pitchFamily="34" charset="0"/>
                <a:ea typeface="Calibri" pitchFamily="34" charset="-122"/>
                <a:cs typeface="Calibri" pitchFamily="34" charset="-120"/>
              </a:rPr>
              <a:t>Date: </a:t>
            </a:r>
            <a:pPr algn="r" indent="0" marL="0">
              <a:buNone/>
            </a:pPr>
            <a:r>
              <a:rPr lang="en-US" sz="1300" dirty="0">
                <a:solidFill>
                  <a:srgbClr val="1B4D36"/>
                </a:solidFill>
                <a:latin typeface="Calibri" pitchFamily="34" charset="0"/>
                <a:ea typeface="Calibri" pitchFamily="34" charset="-122"/>
                <a:cs typeface="Calibri" pitchFamily="34" charset="-120"/>
              </a:rPr>
              <a:t>11th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Presentation Outline</a:t>
            </a:r>
            <a:endParaRPr lang="en-US" sz="2200" dirty="0"/>
          </a:p>
        </p:txBody>
      </p:sp>
      <p:sp>
        <p:nvSpPr>
          <p:cNvPr id="3" name="Text 1"/>
          <p:cNvSpPr txBox="1"/>
          <p:nvPr/>
        </p:nvSpPr>
        <p:spPr>
          <a:xfrm>
            <a:off x="594360" y="2377440"/>
            <a:ext cx="4023360" cy="2194560"/>
          </a:xfrm>
          <a:prstGeom prst="rect">
            <a:avLst/>
          </a:prstGeom>
          <a:noFill/>
          <a:ln/>
        </p:spPr>
        <p:txBody>
          <a:bodyPr wrap="square" lIns="0" tIns="0" rIns="0" bIns="0" rtlCol="0" anchor="t"/>
          <a:lstStyle/>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1. Problem Statement</a:t>
            </a:r>
            <a:endParaRPr lang="en-US" sz="1300" dirty="0"/>
          </a:p>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2. Problem Understanding</a:t>
            </a:r>
            <a:endParaRPr lang="en-US" sz="1300" dirty="0"/>
          </a:p>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3. Existing Gaps &amp; Challenges</a:t>
            </a:r>
            <a:endParaRPr lang="en-US" sz="1300" dirty="0"/>
          </a:p>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4. Our Proposed Solution</a:t>
            </a:r>
            <a:endParaRPr lang="en-US" sz="1300" dirty="0"/>
          </a:p>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5. Technical Approach</a:t>
            </a:r>
            <a:endParaRPr lang="en-US" sz="1300" dirty="0"/>
          </a:p>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6. Innovation &amp; Uniqueness</a:t>
            </a:r>
            <a:endParaRPr lang="en-US" sz="1300" dirty="0"/>
          </a:p>
        </p:txBody>
      </p:sp>
      <p:sp>
        <p:nvSpPr>
          <p:cNvPr id="4" name="Text 2"/>
          <p:cNvSpPr txBox="1"/>
          <p:nvPr/>
        </p:nvSpPr>
        <p:spPr>
          <a:xfrm>
            <a:off x="4736592" y="2377440"/>
            <a:ext cx="4023360" cy="2194560"/>
          </a:xfrm>
          <a:prstGeom prst="rect">
            <a:avLst/>
          </a:prstGeom>
          <a:noFill/>
          <a:ln/>
        </p:spPr>
        <p:txBody>
          <a:bodyPr wrap="square" lIns="0" tIns="0" rIns="0" bIns="0" rtlCol="0" anchor="t"/>
          <a:lstStyle/>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7. Feasibility &amp; Scalability</a:t>
            </a:r>
            <a:endParaRPr lang="en-US" sz="1300" dirty="0"/>
          </a:p>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8. Cost for Product</a:t>
            </a:r>
            <a:endParaRPr lang="en-US" sz="1300" dirty="0"/>
          </a:p>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9. Use Cases</a:t>
            </a:r>
            <a:endParaRPr lang="en-US" sz="1300" dirty="0"/>
          </a:p>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10. Impacts and Benefits</a:t>
            </a:r>
            <a:endParaRPr lang="en-US" sz="1300" dirty="0"/>
          </a:p>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11. Sustainable Development Goals</a:t>
            </a:r>
            <a:endParaRPr lang="en-US" sz="1300" dirty="0"/>
          </a:p>
          <a:p>
            <a:pPr indent="0" marL="0">
              <a:spcAft>
                <a:spcPts val="600"/>
              </a:spcAft>
              <a:buNone/>
            </a:pPr>
            <a:r>
              <a:rPr lang="en-US" sz="1300" dirty="0">
                <a:solidFill>
                  <a:srgbClr val="1B4D36"/>
                </a:solidFill>
                <a:latin typeface="Calibri" pitchFamily="34" charset="0"/>
                <a:ea typeface="Calibri" pitchFamily="34" charset="-122"/>
                <a:cs typeface="Calibri" pitchFamily="34" charset="-120"/>
              </a:rPr>
              <a:t>12. Individual Member Contribution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Problem Statement</a:t>
            </a:r>
            <a:endParaRPr lang="en-US" sz="2200" dirty="0"/>
          </a:p>
        </p:txBody>
      </p:sp>
      <p:sp>
        <p:nvSpPr>
          <p:cNvPr id="3" name="Shape 1"/>
          <p:cNvSpPr/>
          <p:nvPr/>
        </p:nvSpPr>
        <p:spPr>
          <a:xfrm>
            <a:off x="548640" y="2697480"/>
            <a:ext cx="8092440" cy="1554480"/>
          </a:xfrm>
          <a:prstGeom prst="roundRect">
            <a:avLst>
              <a:gd name="adj" fmla="val 5882"/>
            </a:avLst>
          </a:prstGeom>
          <a:solidFill>
            <a:srgbClr val="E0F0E6"/>
          </a:solidFill>
          <a:ln w="12700">
            <a:solidFill>
              <a:srgbClr val="E0F0E6"/>
            </a:solidFill>
            <a:prstDash val="solid"/>
          </a:ln>
        </p:spPr>
      </p:sp>
      <p:sp>
        <p:nvSpPr>
          <p:cNvPr id="4" name="Text 2"/>
          <p:cNvSpPr txBox="1"/>
          <p:nvPr/>
        </p:nvSpPr>
        <p:spPr>
          <a:xfrm>
            <a:off x="777240" y="2743200"/>
            <a:ext cx="7635240" cy="1463040"/>
          </a:xfrm>
          <a:prstGeom prst="rect">
            <a:avLst/>
          </a:prstGeom>
          <a:noFill/>
          <a:ln/>
        </p:spPr>
        <p:txBody>
          <a:bodyPr wrap="square" lIns="0" tIns="0" rIns="0" bIns="0" rtlCol="0" anchor="ctr"/>
          <a:lstStyle/>
          <a:p>
            <a:pPr indent="0" marL="0">
              <a:buNone/>
            </a:pPr>
            <a:r>
              <a:rPr lang="en-US" sz="1600" dirty="0">
                <a:solidFill>
                  <a:srgbClr val="000000"/>
                </a:solidFill>
                <a:latin typeface="Calibri" pitchFamily="34" charset="0"/>
                <a:ea typeface="Calibri" pitchFamily="34" charset="-122"/>
                <a:cs typeface="Calibri" pitchFamily="34" charset="-120"/>
              </a:rPr>
              <a:t>Drying clothes indoors during monsoons, in apartments and in humid regions is slow, smelly and unhealthy, while existing solutions (tumble dryers, heaters) are costly, energy-hungry and bulky. We aim to deliver a foldable, smart and energy-efficient clothes dryer that dries laundry quickly using dehumidification.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Problem Understanding</a:t>
            </a:r>
            <a:endParaRPr lang="en-US" sz="2200" dirty="0"/>
          </a:p>
        </p:txBody>
      </p:sp>
      <p:sp>
        <p:nvSpPr>
          <p:cNvPr id="3" name="Text 1"/>
          <p:cNvSpPr txBox="1"/>
          <p:nvPr/>
        </p:nvSpPr>
        <p:spPr>
          <a:xfrm>
            <a:off x="731520" y="2011680"/>
            <a:ext cx="7772400" cy="3840480"/>
          </a:xfrm>
          <a:prstGeom prst="rect">
            <a:avLst/>
          </a:prstGeom>
          <a:noFill/>
          <a:ln/>
        </p:spPr>
        <p:txBody>
          <a:bodyPr wrap="square" lIns="0" tIns="0" rIns="0" bIns="0" rtlCol="0" anchor="t"/>
          <a:lstStyle/>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Who: </a:t>
            </a:r>
            <a:r>
              <a:rPr lang="en-US" sz="1700" dirty="0">
                <a:solidFill>
                  <a:srgbClr val="000000"/>
                </a:solidFill>
                <a:latin typeface="Calibri" pitchFamily="34" charset="0"/>
                <a:ea typeface="Calibri" pitchFamily="34" charset="-122"/>
                <a:cs typeface="Calibri" pitchFamily="34" charset="-120"/>
              </a:rPr>
              <a:t>Urban families, hostel students, working professionals and apartment dwellers with no sunlit balcony or terrace, especially in monsoon-prone and humid regions.</a:t>
            </a:r>
            <a:endParaRPr lang="en-US" sz="1700" dirty="0"/>
          </a:p>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Causes: </a:t>
            </a:r>
            <a:r>
              <a:rPr lang="en-US" sz="1700" dirty="0">
                <a:solidFill>
                  <a:srgbClr val="000000"/>
                </a:solidFill>
                <a:latin typeface="Calibri" pitchFamily="34" charset="0"/>
                <a:ea typeface="Calibri" pitchFamily="34" charset="-122"/>
                <a:cs typeface="Calibri" pitchFamily="34" charset="-120"/>
              </a:rPr>
              <a:t>High ambient humidity, limited space, lack of sunlight and high cost and power draw of tumble dryers.</a:t>
            </a:r>
            <a:endParaRPr lang="en-US" sz="1700" dirty="0"/>
          </a:p>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Effects: </a:t>
            </a:r>
            <a:r>
              <a:rPr lang="en-US" sz="1700" dirty="0">
                <a:solidFill>
                  <a:srgbClr val="000000"/>
                </a:solidFill>
                <a:latin typeface="Calibri" pitchFamily="34" charset="0"/>
                <a:ea typeface="Calibri" pitchFamily="34" charset="-122"/>
                <a:cs typeface="Calibri" pitchFamily="34" charset="-120"/>
              </a:rPr>
              <a:t>Clothes take 1-3 days to dry, develop a musty odour, mould and bacteria grow, indoor humidity rises, and electricity bills increase.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Existing Gaps &amp; Challenges</a:t>
            </a:r>
            <a:endParaRPr lang="en-US" sz="2200" dirty="0"/>
          </a:p>
        </p:txBody>
      </p:sp>
      <p:sp>
        <p:nvSpPr>
          <p:cNvPr id="3" name="Text 1"/>
          <p:cNvSpPr txBox="1"/>
          <p:nvPr/>
        </p:nvSpPr>
        <p:spPr>
          <a:xfrm>
            <a:off x="731520" y="2011680"/>
            <a:ext cx="7772400" cy="3840480"/>
          </a:xfrm>
          <a:prstGeom prst="rect">
            <a:avLst/>
          </a:prstGeom>
          <a:noFill/>
          <a:ln/>
        </p:spPr>
        <p:txBody>
          <a:bodyPr wrap="square" lIns="0" tIns="0" rIns="0" bIns="0" rtlCol="0" anchor="t"/>
          <a:lstStyle/>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Tumble and heat-pump dryers: </a:t>
            </a:r>
            <a:r>
              <a:rPr lang="en-US" sz="1700" dirty="0">
                <a:solidFill>
                  <a:srgbClr val="000000"/>
                </a:solidFill>
                <a:latin typeface="Calibri" pitchFamily="34" charset="0"/>
                <a:ea typeface="Calibri" pitchFamily="34" charset="-122"/>
                <a:cs typeface="Calibri" pitchFamily="34" charset="-120"/>
              </a:rPr>
              <a:t>expensive (Rs. 25,000+), high power use (1.5-3 kW), bulky and can damage delicate fabrics.</a:t>
            </a:r>
            <a:endParaRPr lang="en-US" sz="1700" dirty="0"/>
          </a:p>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Room dehumidifiers and drying racks: </a:t>
            </a:r>
            <a:r>
              <a:rPr lang="en-US" sz="1700" dirty="0">
                <a:solidFill>
                  <a:srgbClr val="000000"/>
                </a:solidFill>
                <a:latin typeface="Calibri" pitchFamily="34" charset="0"/>
                <a:ea typeface="Calibri" pitchFamily="34" charset="-122"/>
                <a:cs typeface="Calibri" pitchFamily="34" charset="-120"/>
              </a:rPr>
              <a:t>not designed for laundry, uneven airflow, slow drying and no enclosure to trap moisture.</a:t>
            </a:r>
            <a:endParaRPr lang="en-US" sz="1700" dirty="0"/>
          </a:p>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Main unsolved challenge: </a:t>
            </a:r>
            <a:r>
              <a:rPr lang="en-US" sz="1700" dirty="0">
                <a:solidFill>
                  <a:srgbClr val="000000"/>
                </a:solidFill>
                <a:latin typeface="Calibri" pitchFamily="34" charset="0"/>
                <a:ea typeface="Calibri" pitchFamily="34" charset="-122"/>
                <a:cs typeface="Calibri" pitchFamily="34" charset="-120"/>
              </a:rPr>
              <a:t>an affordable, portable, space-saving dryer that is energy-efficient and works anywhere, with no vent or outdoor access.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Our Proposed Solution</a:t>
            </a:r>
            <a:endParaRPr lang="en-US" sz="2200" dirty="0"/>
          </a:p>
        </p:txBody>
      </p:sp>
      <p:sp>
        <p:nvSpPr>
          <p:cNvPr id="3" name="Text 1"/>
          <p:cNvSpPr txBox="1"/>
          <p:nvPr/>
        </p:nvSpPr>
        <p:spPr>
          <a:xfrm>
            <a:off x="731520" y="2011680"/>
            <a:ext cx="7772400" cy="3840480"/>
          </a:xfrm>
          <a:prstGeom prst="rect">
            <a:avLst/>
          </a:prstGeom>
          <a:noFill/>
          <a:ln/>
        </p:spPr>
        <p:txBody>
          <a:bodyPr wrap="square" lIns="0" tIns="0" rIns="0" bIns="0" rtlCol="0" anchor="t"/>
          <a:lstStyle/>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Core idea: </a:t>
            </a:r>
            <a:r>
              <a:rPr lang="en-US" sz="1700" dirty="0">
                <a:solidFill>
                  <a:srgbClr val="000000"/>
                </a:solidFill>
                <a:latin typeface="Calibri" pitchFamily="34" charset="0"/>
                <a:ea typeface="Calibri" pitchFamily="34" charset="-122"/>
                <a:cs typeface="Calibri" pitchFamily="34" charset="-120"/>
              </a:rPr>
              <a:t>a foldable, tent-style drying cabinet with a built-in compact dehumidifier and a gentle warm-air circulation fan.</a:t>
            </a:r>
            <a:endParaRPr lang="en-US" sz="1700" dirty="0"/>
          </a:p>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How it works: </a:t>
            </a:r>
            <a:r>
              <a:rPr lang="en-US" sz="1700" dirty="0">
                <a:solidFill>
                  <a:srgbClr val="000000"/>
                </a:solidFill>
                <a:latin typeface="Calibri" pitchFamily="34" charset="0"/>
                <a:ea typeface="Calibri" pitchFamily="34" charset="-122"/>
                <a:cs typeface="Calibri" pitchFamily="34" charset="-120"/>
              </a:rPr>
              <a:t>clothes hang inside the sealed enclosure; the dehumidifier condenses moisture into a collection tank while sensors adjust fan and heater power until the laundry is dry.</a:t>
            </a:r>
            <a:endParaRPr lang="en-US" sz="1700" dirty="0"/>
          </a:p>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Value: </a:t>
            </a:r>
            <a:r>
              <a:rPr lang="en-US" sz="1700" dirty="0">
                <a:solidFill>
                  <a:srgbClr val="000000"/>
                </a:solidFill>
                <a:latin typeface="Calibri" pitchFamily="34" charset="0"/>
                <a:ea typeface="Calibri" pitchFamily="34" charset="-122"/>
                <a:cs typeface="Calibri" pitchFamily="34" charset="-120"/>
              </a:rPr>
              <a:t>dry clothes in 2-4 hours, anytime and anywhere, at low running cost, and it folds flat after use.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Technical Approach</a:t>
            </a:r>
            <a:endParaRPr lang="en-US" sz="2200" dirty="0"/>
          </a:p>
        </p:txBody>
      </p:sp>
      <p:sp>
        <p:nvSpPr>
          <p:cNvPr id="3" name="Shape 1"/>
          <p:cNvSpPr/>
          <p:nvPr/>
        </p:nvSpPr>
        <p:spPr>
          <a:xfrm>
            <a:off x="1005840" y="1005840"/>
            <a:ext cx="7132320" cy="2194560"/>
          </a:xfrm>
          <a:prstGeom prst="roundRect">
            <a:avLst>
              <a:gd name="adj" fmla="val 4167"/>
            </a:avLst>
          </a:prstGeom>
          <a:solidFill>
            <a:srgbClr val="F1F7F3"/>
          </a:solidFill>
          <a:ln w="15875">
            <a:solidFill>
              <a:srgbClr val="256A47"/>
            </a:solidFill>
            <a:prstDash val="dash"/>
          </a:ln>
        </p:spPr>
      </p:sp>
      <p:sp>
        <p:nvSpPr>
          <p:cNvPr id="4" name="Shape 2"/>
          <p:cNvSpPr/>
          <p:nvPr/>
        </p:nvSpPr>
        <p:spPr>
          <a:xfrm>
            <a:off x="1188720" y="1188720"/>
            <a:ext cx="1737360" cy="566928"/>
          </a:xfrm>
          <a:prstGeom prst="roundRect">
            <a:avLst>
              <a:gd name="adj" fmla="val 9677"/>
            </a:avLst>
          </a:prstGeom>
          <a:solidFill>
            <a:srgbClr val="256A47"/>
          </a:solidFill>
          <a:ln w="12700">
            <a:solidFill>
              <a:srgbClr val="256A47"/>
            </a:solidFill>
            <a:prstDash val="solid"/>
          </a:ln>
        </p:spPr>
      </p:sp>
      <p:sp>
        <p:nvSpPr>
          <p:cNvPr id="5" name="Text 3"/>
          <p:cNvSpPr txBox="1"/>
          <p:nvPr/>
        </p:nvSpPr>
        <p:spPr>
          <a:xfrm>
            <a:off x="1188720" y="1188720"/>
            <a:ext cx="1737360" cy="566928"/>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Humidity &amp; Temp Sensors</a:t>
            </a:r>
            <a:endParaRPr lang="en-US" sz="1100" dirty="0"/>
          </a:p>
        </p:txBody>
      </p:sp>
      <p:sp>
        <p:nvSpPr>
          <p:cNvPr id="6" name="Shape 4"/>
          <p:cNvSpPr/>
          <p:nvPr/>
        </p:nvSpPr>
        <p:spPr>
          <a:xfrm>
            <a:off x="3703320" y="1188720"/>
            <a:ext cx="1737360" cy="566928"/>
          </a:xfrm>
          <a:prstGeom prst="roundRect">
            <a:avLst>
              <a:gd name="adj" fmla="val 9677"/>
            </a:avLst>
          </a:prstGeom>
          <a:solidFill>
            <a:srgbClr val="256A47"/>
          </a:solidFill>
          <a:ln w="12700">
            <a:solidFill>
              <a:srgbClr val="256A47"/>
            </a:solidFill>
            <a:prstDash val="solid"/>
          </a:ln>
        </p:spPr>
      </p:sp>
      <p:sp>
        <p:nvSpPr>
          <p:cNvPr id="7" name="Text 5"/>
          <p:cNvSpPr txBox="1"/>
          <p:nvPr/>
        </p:nvSpPr>
        <p:spPr>
          <a:xfrm>
            <a:off x="3703320" y="1188720"/>
            <a:ext cx="1737360" cy="566928"/>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ESP32 Controller</a:t>
            </a:r>
            <a:endParaRPr lang="en-US" sz="1100" dirty="0"/>
          </a:p>
        </p:txBody>
      </p:sp>
      <p:sp>
        <p:nvSpPr>
          <p:cNvPr id="8" name="Shape 6"/>
          <p:cNvSpPr/>
          <p:nvPr/>
        </p:nvSpPr>
        <p:spPr>
          <a:xfrm>
            <a:off x="6217920" y="1188720"/>
            <a:ext cx="1737360" cy="566928"/>
          </a:xfrm>
          <a:prstGeom prst="roundRect">
            <a:avLst>
              <a:gd name="adj" fmla="val 9677"/>
            </a:avLst>
          </a:prstGeom>
          <a:solidFill>
            <a:srgbClr val="256A47"/>
          </a:solidFill>
          <a:ln w="12700">
            <a:solidFill>
              <a:srgbClr val="256A47"/>
            </a:solidFill>
            <a:prstDash val="solid"/>
          </a:ln>
        </p:spPr>
      </p:sp>
      <p:sp>
        <p:nvSpPr>
          <p:cNvPr id="9" name="Text 7"/>
          <p:cNvSpPr txBox="1"/>
          <p:nvPr/>
        </p:nvSpPr>
        <p:spPr>
          <a:xfrm>
            <a:off x="6217920" y="1188720"/>
            <a:ext cx="1737360" cy="566928"/>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Mobile App (Wi-Fi/BLE)</a:t>
            </a:r>
            <a:endParaRPr lang="en-US" sz="1100" dirty="0"/>
          </a:p>
        </p:txBody>
      </p:sp>
      <p:sp>
        <p:nvSpPr>
          <p:cNvPr id="10" name="Shape 8"/>
          <p:cNvSpPr/>
          <p:nvPr/>
        </p:nvSpPr>
        <p:spPr>
          <a:xfrm>
            <a:off x="1188720" y="2423160"/>
            <a:ext cx="1737360" cy="566928"/>
          </a:xfrm>
          <a:prstGeom prst="roundRect">
            <a:avLst>
              <a:gd name="adj" fmla="val 9677"/>
            </a:avLst>
          </a:prstGeom>
          <a:solidFill>
            <a:srgbClr val="256A47"/>
          </a:solidFill>
          <a:ln w="12700">
            <a:solidFill>
              <a:srgbClr val="256A47"/>
            </a:solidFill>
            <a:prstDash val="solid"/>
          </a:ln>
        </p:spPr>
      </p:sp>
      <p:sp>
        <p:nvSpPr>
          <p:cNvPr id="11" name="Text 9"/>
          <p:cNvSpPr txBox="1"/>
          <p:nvPr/>
        </p:nvSpPr>
        <p:spPr>
          <a:xfrm>
            <a:off x="1188720" y="2423160"/>
            <a:ext cx="1737360" cy="566928"/>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Fan &amp; Heater Driver</a:t>
            </a:r>
            <a:endParaRPr lang="en-US" sz="1100" dirty="0"/>
          </a:p>
        </p:txBody>
      </p:sp>
      <p:sp>
        <p:nvSpPr>
          <p:cNvPr id="12" name="Shape 10"/>
          <p:cNvSpPr/>
          <p:nvPr/>
        </p:nvSpPr>
        <p:spPr>
          <a:xfrm>
            <a:off x="3703320" y="2423160"/>
            <a:ext cx="1737360" cy="566928"/>
          </a:xfrm>
          <a:prstGeom prst="roundRect">
            <a:avLst>
              <a:gd name="adj" fmla="val 9677"/>
            </a:avLst>
          </a:prstGeom>
          <a:solidFill>
            <a:srgbClr val="256A47"/>
          </a:solidFill>
          <a:ln w="12700">
            <a:solidFill>
              <a:srgbClr val="256A47"/>
            </a:solidFill>
            <a:prstDash val="solid"/>
          </a:ln>
        </p:spPr>
      </p:sp>
      <p:sp>
        <p:nvSpPr>
          <p:cNvPr id="13" name="Text 11"/>
          <p:cNvSpPr txBox="1"/>
          <p:nvPr/>
        </p:nvSpPr>
        <p:spPr>
          <a:xfrm>
            <a:off x="3703320" y="2423160"/>
            <a:ext cx="1737360" cy="566928"/>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Dehumidifier Unit</a:t>
            </a:r>
            <a:endParaRPr lang="en-US" sz="1100" dirty="0"/>
          </a:p>
        </p:txBody>
      </p:sp>
      <p:sp>
        <p:nvSpPr>
          <p:cNvPr id="14" name="Shape 12"/>
          <p:cNvSpPr/>
          <p:nvPr/>
        </p:nvSpPr>
        <p:spPr>
          <a:xfrm>
            <a:off x="6217920" y="2423160"/>
            <a:ext cx="1737360" cy="566928"/>
          </a:xfrm>
          <a:prstGeom prst="roundRect">
            <a:avLst>
              <a:gd name="adj" fmla="val 9677"/>
            </a:avLst>
          </a:prstGeom>
          <a:solidFill>
            <a:srgbClr val="256A47"/>
          </a:solidFill>
          <a:ln w="12700">
            <a:solidFill>
              <a:srgbClr val="256A47"/>
            </a:solidFill>
            <a:prstDash val="solid"/>
          </a:ln>
        </p:spPr>
      </p:sp>
      <p:sp>
        <p:nvSpPr>
          <p:cNvPr id="15" name="Text 13"/>
          <p:cNvSpPr txBox="1"/>
          <p:nvPr/>
        </p:nvSpPr>
        <p:spPr>
          <a:xfrm>
            <a:off x="6217920" y="2423160"/>
            <a:ext cx="1737360" cy="566928"/>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Water Tank Level Sensor</a:t>
            </a:r>
            <a:endParaRPr lang="en-US" sz="1100" dirty="0"/>
          </a:p>
        </p:txBody>
      </p:sp>
      <p:sp>
        <p:nvSpPr>
          <p:cNvPr id="16" name="Shape 14"/>
          <p:cNvSpPr/>
          <p:nvPr/>
        </p:nvSpPr>
        <p:spPr>
          <a:xfrm>
            <a:off x="2926080" y="1472184"/>
            <a:ext cx="777240" cy="0"/>
          </a:xfrm>
          <a:prstGeom prst="line">
            <a:avLst/>
          </a:prstGeom>
          <a:noFill/>
          <a:ln w="19050">
            <a:solidFill>
              <a:srgbClr val="1B4D36"/>
            </a:solidFill>
            <a:prstDash val="solid"/>
            <a:tailEnd type="triangle"/>
          </a:ln>
        </p:spPr>
      </p:sp>
      <p:sp>
        <p:nvSpPr>
          <p:cNvPr id="17" name="Shape 15"/>
          <p:cNvSpPr/>
          <p:nvPr/>
        </p:nvSpPr>
        <p:spPr>
          <a:xfrm>
            <a:off x="5440680" y="1472184"/>
            <a:ext cx="777240" cy="0"/>
          </a:xfrm>
          <a:prstGeom prst="line">
            <a:avLst/>
          </a:prstGeom>
          <a:noFill/>
          <a:ln w="19050">
            <a:solidFill>
              <a:srgbClr val="1B4D36"/>
            </a:solidFill>
            <a:prstDash val="solid"/>
            <a:tailEnd type="triangle"/>
          </a:ln>
        </p:spPr>
      </p:sp>
      <p:sp>
        <p:nvSpPr>
          <p:cNvPr id="18" name="Shape 16"/>
          <p:cNvSpPr/>
          <p:nvPr/>
        </p:nvSpPr>
        <p:spPr>
          <a:xfrm>
            <a:off x="4572000" y="1755648"/>
            <a:ext cx="0" cy="667512"/>
          </a:xfrm>
          <a:prstGeom prst="line">
            <a:avLst/>
          </a:prstGeom>
          <a:noFill/>
          <a:ln w="19050">
            <a:solidFill>
              <a:srgbClr val="1B4D36"/>
            </a:solidFill>
            <a:prstDash val="solid"/>
            <a:tailEnd type="triangle"/>
          </a:ln>
        </p:spPr>
      </p:sp>
      <p:sp>
        <p:nvSpPr>
          <p:cNvPr id="19" name="Shape 17"/>
          <p:cNvSpPr/>
          <p:nvPr/>
        </p:nvSpPr>
        <p:spPr>
          <a:xfrm flipH="1">
            <a:off x="2926080" y="2706624"/>
            <a:ext cx="777240" cy="0"/>
          </a:xfrm>
          <a:prstGeom prst="line">
            <a:avLst/>
          </a:prstGeom>
          <a:noFill/>
          <a:ln w="19050">
            <a:solidFill>
              <a:srgbClr val="1B4D36"/>
            </a:solidFill>
            <a:prstDash val="solid"/>
            <a:tailEnd type="triangle"/>
          </a:ln>
        </p:spPr>
      </p:sp>
      <p:sp>
        <p:nvSpPr>
          <p:cNvPr id="20" name="Shape 18"/>
          <p:cNvSpPr/>
          <p:nvPr/>
        </p:nvSpPr>
        <p:spPr>
          <a:xfrm flipH="1">
            <a:off x="5440680" y="2706624"/>
            <a:ext cx="777240" cy="0"/>
          </a:xfrm>
          <a:prstGeom prst="line">
            <a:avLst/>
          </a:prstGeom>
          <a:noFill/>
          <a:ln w="19050">
            <a:solidFill>
              <a:srgbClr val="1B4D36"/>
            </a:solidFill>
            <a:prstDash val="solid"/>
            <a:tailEnd type="triangle"/>
          </a:ln>
        </p:spPr>
      </p:sp>
      <p:sp>
        <p:nvSpPr>
          <p:cNvPr id="21" name="Text 19"/>
          <p:cNvSpPr txBox="1"/>
          <p:nvPr/>
        </p:nvSpPr>
        <p:spPr>
          <a:xfrm>
            <a:off x="731520" y="3383280"/>
            <a:ext cx="7680960" cy="868680"/>
          </a:xfrm>
          <a:prstGeom prst="rect">
            <a:avLst/>
          </a:prstGeom>
          <a:noFill/>
          <a:ln/>
        </p:spPr>
        <p:txBody>
          <a:bodyPr wrap="square" lIns="0" tIns="0" rIns="0" bIns="0" rtlCol="0" anchor="ctr"/>
          <a:lstStyle/>
          <a:p>
            <a:pPr algn="ctr" indent="0" marL="0">
              <a:buNone/>
            </a:pPr>
            <a:r>
              <a:rPr lang="en-US" sz="1300" dirty="0">
                <a:solidFill>
                  <a:srgbClr val="000000"/>
                </a:solidFill>
                <a:latin typeface="Calibri" pitchFamily="34" charset="0"/>
                <a:ea typeface="Calibri" pitchFamily="34" charset="-122"/>
                <a:cs typeface="Calibri" pitchFamily="34" charset="-120"/>
              </a:rPr>
              <a:t>Sensors send humidity and temperature readings to the ESP32, which controls the fan, heater and dehumidifier through relay drivers. The tank sensor signals when to empty it, and the app shows progress and allows remote control.</a:t>
            </a:r>
            <a:endParaRPr lang="en-US" sz="1300" dirty="0"/>
          </a:p>
        </p:txBody>
      </p:sp>
      <p:sp>
        <p:nvSpPr>
          <p:cNvPr id="22" name="Shape 20"/>
          <p:cNvSpPr/>
          <p:nvPr/>
        </p:nvSpPr>
        <p:spPr>
          <a:xfrm>
            <a:off x="548640" y="4526280"/>
            <a:ext cx="8092440" cy="1325880"/>
          </a:xfrm>
          <a:prstGeom prst="roundRect">
            <a:avLst>
              <a:gd name="adj" fmla="val 5517"/>
            </a:avLst>
          </a:prstGeom>
          <a:solidFill>
            <a:srgbClr val="E0F0E6"/>
          </a:solidFill>
          <a:ln w="12700">
            <a:solidFill>
              <a:srgbClr val="E0F0E6"/>
            </a:solidFill>
            <a:prstDash val="solid"/>
          </a:ln>
        </p:spPr>
      </p:sp>
      <p:sp>
        <p:nvSpPr>
          <p:cNvPr id="23" name="Text 21"/>
          <p:cNvSpPr txBox="1"/>
          <p:nvPr/>
        </p:nvSpPr>
        <p:spPr>
          <a:xfrm>
            <a:off x="777240" y="4572000"/>
            <a:ext cx="7680960" cy="1234440"/>
          </a:xfrm>
          <a:prstGeom prst="rect">
            <a:avLst/>
          </a:prstGeom>
          <a:noFill/>
          <a:ln/>
        </p:spPr>
        <p:txBody>
          <a:bodyPr wrap="square" lIns="0" tIns="0" rIns="0" bIns="0" rtlCol="0" anchor="ctr"/>
          <a:lstStyle/>
          <a:p>
            <a:pPr indent="0" marL="0">
              <a:spcAft>
                <a:spcPts val="400"/>
              </a:spcAft>
              <a:buNone/>
            </a:pPr>
            <a:r>
              <a:rPr lang="en-US" sz="1200" b="1" dirty="0">
                <a:solidFill>
                  <a:srgbClr val="000000"/>
                </a:solidFill>
                <a:latin typeface="Calibri" pitchFamily="34" charset="0"/>
                <a:ea typeface="Calibri" pitchFamily="34" charset="-122"/>
                <a:cs typeface="Calibri" pitchFamily="34" charset="-120"/>
              </a:rPr>
              <a:t>Tech Stack</a:t>
            </a:r>
            <a:endParaRPr lang="en-US" sz="1200" dirty="0"/>
          </a:p>
          <a:p>
            <a:pPr indent="0" marL="0">
              <a:spcAft>
                <a:spcPts val="400"/>
              </a:spcAft>
              <a:buNone/>
            </a:pPr>
            <a:r>
              <a:rPr lang="en-US" sz="1200" b="1" dirty="0">
                <a:solidFill>
                  <a:srgbClr val="000000"/>
                </a:solidFill>
                <a:latin typeface="Calibri" pitchFamily="34" charset="0"/>
                <a:ea typeface="Calibri" pitchFamily="34" charset="-122"/>
                <a:cs typeface="Calibri" pitchFamily="34" charset="-120"/>
              </a:rPr>
              <a:t>Frontend: </a:t>
            </a:r>
            <a:pPr indent="0" marL="0">
              <a:spcAft>
                <a:spcPts val="400"/>
              </a:spcAft>
              <a:buNone/>
            </a:pPr>
            <a:r>
              <a:rPr lang="en-US" sz="1200" dirty="0">
                <a:solidFill>
                  <a:srgbClr val="000000"/>
                </a:solidFill>
                <a:latin typeface="Calibri" pitchFamily="34" charset="0"/>
                <a:ea typeface="Calibri" pitchFamily="34" charset="-122"/>
                <a:cs typeface="Calibri" pitchFamily="34" charset="-120"/>
              </a:rPr>
              <a:t>Flutter mobile app</a:t>
            </a:r>
            <a:pPr indent="0" marL="0">
              <a:spcAft>
                <a:spcPts val="400"/>
              </a:spcAft>
              <a:buNone/>
            </a:pPr>
            <a:r>
              <a:rPr lang="en-US" sz="1200" b="1" dirty="0">
                <a:solidFill>
                  <a:srgbClr val="000000"/>
                </a:solidFill>
                <a:latin typeface="Calibri" pitchFamily="34" charset="0"/>
                <a:ea typeface="Calibri" pitchFamily="34" charset="-122"/>
                <a:cs typeface="Calibri" pitchFamily="34" charset="-120"/>
              </a:rPr>
              <a:t>     Database: </a:t>
            </a:r>
            <a:pPr indent="0" marL="0">
              <a:spcAft>
                <a:spcPts val="400"/>
              </a:spcAft>
              <a:buNone/>
            </a:pPr>
            <a:r>
              <a:rPr lang="en-US" sz="1200" dirty="0">
                <a:solidFill>
                  <a:srgbClr val="000000"/>
                </a:solidFill>
                <a:latin typeface="Calibri" pitchFamily="34" charset="0"/>
                <a:ea typeface="Calibri" pitchFamily="34" charset="-122"/>
                <a:cs typeface="Calibri" pitchFamily="34" charset="-120"/>
              </a:rPr>
              <a:t>Firebase Realtime DB</a:t>
            </a:r>
            <a:endParaRPr lang="en-US" sz="1200" dirty="0"/>
          </a:p>
          <a:p>
            <a:pPr indent="0" marL="0">
              <a:spcAft>
                <a:spcPts val="400"/>
              </a:spcAft>
              <a:buNone/>
            </a:pPr>
            <a:r>
              <a:rPr lang="en-US" sz="1200" b="1" dirty="0">
                <a:solidFill>
                  <a:srgbClr val="000000"/>
                </a:solidFill>
                <a:latin typeface="Calibri" pitchFamily="34" charset="0"/>
                <a:ea typeface="Calibri" pitchFamily="34" charset="-122"/>
                <a:cs typeface="Calibri" pitchFamily="34" charset="-120"/>
              </a:rPr>
              <a:t>Backend: </a:t>
            </a:r>
            <a:pPr indent="0" marL="0">
              <a:spcAft>
                <a:spcPts val="400"/>
              </a:spcAft>
              <a:buNone/>
            </a:pPr>
            <a:r>
              <a:rPr lang="en-US" sz="1200" dirty="0">
                <a:solidFill>
                  <a:srgbClr val="000000"/>
                </a:solidFill>
                <a:latin typeface="Calibri" pitchFamily="34" charset="0"/>
                <a:ea typeface="Calibri" pitchFamily="34" charset="-122"/>
                <a:cs typeface="Calibri" pitchFamily="34" charset="-120"/>
              </a:rPr>
              <a:t>Firebase Cloud Functions / MQTT</a:t>
            </a:r>
            <a:pPr indent="0" marL="0">
              <a:spcAft>
                <a:spcPts val="400"/>
              </a:spcAft>
              <a:buNone/>
            </a:pPr>
            <a:r>
              <a:rPr lang="en-US" sz="1200" b="1" dirty="0">
                <a:solidFill>
                  <a:srgbClr val="000000"/>
                </a:solidFill>
                <a:latin typeface="Calibri" pitchFamily="34" charset="0"/>
                <a:ea typeface="Calibri" pitchFamily="34" charset="-122"/>
                <a:cs typeface="Calibri" pitchFamily="34" charset="-120"/>
              </a:rPr>
              <a:t>     Hardware: </a:t>
            </a:r>
            <a:pPr indent="0" marL="0">
              <a:spcAft>
                <a:spcPts val="400"/>
              </a:spcAft>
              <a:buNone/>
            </a:pPr>
            <a:r>
              <a:rPr lang="en-US" sz="1200" dirty="0">
                <a:solidFill>
                  <a:srgbClr val="000000"/>
                </a:solidFill>
                <a:latin typeface="Calibri" pitchFamily="34" charset="0"/>
                <a:ea typeface="Calibri" pitchFamily="34" charset="-122"/>
                <a:cs typeface="Calibri" pitchFamily="34" charset="-120"/>
              </a:rPr>
              <a:t>ESP32, DHT22 sensors, Peltier/compressor dehumidifier, PTC heater, 12V fan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Innovation &amp; Uniqueness</a:t>
            </a:r>
            <a:endParaRPr lang="en-US" sz="2200" dirty="0"/>
          </a:p>
        </p:txBody>
      </p:sp>
      <p:sp>
        <p:nvSpPr>
          <p:cNvPr id="3" name="Text 1"/>
          <p:cNvSpPr txBox="1"/>
          <p:nvPr/>
        </p:nvSpPr>
        <p:spPr>
          <a:xfrm>
            <a:off x="731520" y="2011680"/>
            <a:ext cx="7772400" cy="3840480"/>
          </a:xfrm>
          <a:prstGeom prst="rect">
            <a:avLst/>
          </a:prstGeom>
          <a:noFill/>
          <a:ln/>
        </p:spPr>
        <p:txBody>
          <a:bodyPr wrap="square" lIns="0" tIns="0" rIns="0" bIns="0" rtlCol="0" anchor="t"/>
          <a:lstStyle/>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What is new: </a:t>
            </a:r>
            <a:r>
              <a:rPr lang="en-US" sz="1700" dirty="0">
                <a:solidFill>
                  <a:srgbClr val="000000"/>
                </a:solidFill>
                <a:latin typeface="Calibri" pitchFamily="34" charset="0"/>
                <a:ea typeface="Calibri" pitchFamily="34" charset="-122"/>
                <a:cs typeface="Calibri" pitchFamily="34" charset="-120"/>
              </a:rPr>
              <a:t>combines a dehumidifier, controlled warm airflow and a collapsible enclosure into one portable product.</a:t>
            </a:r>
            <a:endParaRPr lang="en-US" sz="1700" dirty="0"/>
          </a:p>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Why it suits the problem: </a:t>
            </a:r>
            <a:r>
              <a:rPr lang="en-US" sz="1700" dirty="0">
                <a:solidFill>
                  <a:srgbClr val="000000"/>
                </a:solidFill>
                <a:latin typeface="Calibri" pitchFamily="34" charset="0"/>
                <a:ea typeface="Calibri" pitchFamily="34" charset="-122"/>
                <a:cs typeface="Calibri" pitchFamily="34" charset="-120"/>
              </a:rPr>
              <a:t>a closed-loop system dries clothes independent of weather, needs no vent and uses far less power than a tumble dryer.</a:t>
            </a:r>
            <a:endParaRPr lang="en-US" sz="1700" dirty="0"/>
          </a:p>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Key differentiator: </a:t>
            </a:r>
            <a:r>
              <a:rPr lang="en-US" sz="1700" dirty="0">
                <a:solidFill>
                  <a:srgbClr val="000000"/>
                </a:solidFill>
                <a:latin typeface="Calibri" pitchFamily="34" charset="0"/>
                <a:ea typeface="Calibri" pitchFamily="34" charset="-122"/>
                <a:cs typeface="Calibri" pitchFamily="34" charset="-120"/>
              </a:rPr>
              <a:t>foldable, sensor-driven auto-drying that stops at the right dryness level, at a fraction of the cost.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Feasibility &amp; Scalability</a:t>
            </a:r>
            <a:endParaRPr lang="en-US" sz="2200" dirty="0"/>
          </a:p>
        </p:txBody>
      </p:sp>
      <p:sp>
        <p:nvSpPr>
          <p:cNvPr id="3" name="Text 1"/>
          <p:cNvSpPr txBox="1"/>
          <p:nvPr/>
        </p:nvSpPr>
        <p:spPr>
          <a:xfrm>
            <a:off x="731520" y="1828800"/>
            <a:ext cx="7772400" cy="4206240"/>
          </a:xfrm>
          <a:prstGeom prst="rect">
            <a:avLst/>
          </a:prstGeom>
          <a:noFill/>
          <a:ln/>
        </p:spPr>
        <p:txBody>
          <a:bodyPr wrap="square" lIns="0" tIns="0" rIns="0" bIns="0" rtlCol="0" anchor="t"/>
          <a:lstStyle/>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Feasibility: </a:t>
            </a:r>
            <a:r>
              <a:rPr lang="en-US" sz="1700" dirty="0">
                <a:solidFill>
                  <a:srgbClr val="000000"/>
                </a:solidFill>
                <a:latin typeface="Calibri" pitchFamily="34" charset="0"/>
                <a:ea typeface="Calibri" pitchFamily="34" charset="-122"/>
                <a:cs typeface="Calibri" pitchFamily="34" charset="-120"/>
              </a:rPr>
              <a:t>built from off-the-shelf components (ESP32, sensors, Peltier or mini-compressor module, fabric frame); prototype achievable in 8-10 weeks.</a:t>
            </a:r>
            <a:endParaRPr lang="en-US" sz="1700" dirty="0"/>
          </a:p>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Scalability: </a:t>
            </a:r>
            <a:r>
              <a:rPr lang="en-US" sz="1700" dirty="0">
                <a:solidFill>
                  <a:srgbClr val="000000"/>
                </a:solidFill>
                <a:latin typeface="Calibri" pitchFamily="34" charset="0"/>
                <a:ea typeface="Calibri" pitchFamily="34" charset="-122"/>
                <a:cs typeface="Calibri" pitchFamily="34" charset="-120"/>
              </a:rPr>
              <a:t>size variants (single-person to family), solar-powered or hostel-bulk versions, and a subscription-free app that connects with smart-home systems.</a:t>
            </a:r>
            <a:endParaRPr lang="en-US" sz="1700" dirty="0"/>
          </a:p>
          <a:p>
            <a:pPr marL="279400" indent="-279400">
              <a:spcAft>
                <a:spcPts val="1400"/>
              </a:spcAft>
              <a:buSzPct val="100000"/>
              <a:buChar char="■"/>
            </a:pPr>
            <a:r>
              <a:rPr lang="en-US" sz="1700" b="1" dirty="0">
                <a:solidFill>
                  <a:srgbClr val="000000"/>
                </a:solidFill>
                <a:latin typeface="Calibri" pitchFamily="34" charset="0"/>
                <a:ea typeface="Calibri" pitchFamily="34" charset="-122"/>
                <a:cs typeface="Calibri" pitchFamily="34" charset="-120"/>
              </a:rPr>
              <a:t>Risks: </a:t>
            </a:r>
            <a:r>
              <a:rPr lang="en-US" sz="1700" dirty="0">
                <a:solidFill>
                  <a:srgbClr val="000000"/>
                </a:solidFill>
                <a:latin typeface="Calibri" pitchFamily="34" charset="0"/>
                <a:ea typeface="Calibri" pitchFamily="34" charset="-122"/>
                <a:cs typeface="Calibri" pitchFamily="34" charset="-120"/>
              </a:rPr>
              <a:t>overheating and electrical safety (thermal cut-off, certified parts), fabric heat resistance (heat-proof lining) and long drying times in very humid air (sensor-based power boost).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Cost for Product</a:t>
            </a:r>
            <a:endParaRPr lang="en-US" sz="2200" dirty="0"/>
          </a:p>
        </p:txBody>
      </p:sp>
      <p:sp>
        <p:nvSpPr>
          <p:cNvPr id="3" name="Text 1"/>
          <p:cNvSpPr txBox="1"/>
          <p:nvPr/>
        </p:nvSpPr>
        <p:spPr>
          <a:xfrm>
            <a:off x="3200400" y="73152"/>
            <a:ext cx="1828800" cy="502920"/>
          </a:xfrm>
          <a:prstGeom prst="rect">
            <a:avLst/>
          </a:prstGeom>
          <a:noFill/>
          <a:ln/>
        </p:spPr>
        <p:txBody>
          <a:bodyPr wrap="square" lIns="0" tIns="0" rIns="0" bIns="0" rtlCol="0" anchor="ctr"/>
          <a:lstStyle/>
          <a:p>
            <a:pPr indent="0" marL="0">
              <a:buNone/>
            </a:pPr>
            <a:r>
              <a:rPr lang="en-US" sz="1300" dirty="0">
                <a:solidFill>
                  <a:srgbClr val="1B4D36"/>
                </a:solidFill>
                <a:latin typeface="Calibri" pitchFamily="34" charset="0"/>
                <a:ea typeface="Calibri" pitchFamily="34" charset="-122"/>
                <a:cs typeface="Calibri" pitchFamily="34" charset="-120"/>
              </a:rPr>
              <a:t>(Optional)</a:t>
            </a:r>
            <a:endParaRPr lang="en-US" sz="1300" dirty="0"/>
          </a:p>
        </p:txBody>
      </p:sp>
      <p:sp>
        <p:nvSpPr>
          <p:cNvPr id="4" name="Text 2"/>
          <p:cNvSpPr txBox="1"/>
          <p:nvPr/>
        </p:nvSpPr>
        <p:spPr>
          <a:xfrm>
            <a:off x="731520" y="1828800"/>
            <a:ext cx="7772400" cy="4206240"/>
          </a:xfrm>
          <a:prstGeom prst="rect">
            <a:avLst/>
          </a:prstGeom>
          <a:noFill/>
          <a:ln/>
        </p:spPr>
        <p:txBody>
          <a:bodyPr wrap="square" lIns="0" tIns="0" rIns="0" bIns="0" rtlCol="0" anchor="t"/>
          <a:lstStyle/>
          <a:p>
            <a:pPr marL="279400" indent="-279400">
              <a:spcAft>
                <a:spcPts val="1400"/>
              </a:spcAft>
              <a:buSzPct val="100000"/>
              <a:buChar char="■"/>
            </a:pPr>
            <a:r>
              <a:rPr lang="en-US" sz="1600" dirty="0">
                <a:solidFill>
                  <a:srgbClr val="000000"/>
                </a:solidFill>
                <a:latin typeface="Calibri" pitchFamily="34" charset="0"/>
                <a:ea typeface="Calibri" pitchFamily="34" charset="-122"/>
                <a:cs typeface="Calibri" pitchFamily="34" charset="-120"/>
              </a:rPr>
              <a:t>Development or hardware cost: Approx. Rs. 8,300 per prototype (ESP32 and sensors Rs. 950, dehumidifier module Rs. 3,000, BLDC blower and heater Rs. 1,200, foldable frame Rs. 1,200, drip tray Rs. 250, power supply Rs. 800, wiring, casing and safety components Rs. 900)</a:t>
            </a:r>
            <a:endParaRPr lang="en-US" sz="1600" dirty="0"/>
          </a:p>
          <a:p>
            <a:pPr marL="279400" indent="-279400">
              <a:spcAft>
                <a:spcPts val="1400"/>
              </a:spcAft>
              <a:buSzPct val="100000"/>
              <a:buChar char="■"/>
            </a:pPr>
            <a:r>
              <a:rPr lang="en-US" sz="1600" dirty="0">
                <a:solidFill>
                  <a:srgbClr val="000000"/>
                </a:solidFill>
                <a:latin typeface="Calibri" pitchFamily="34" charset="0"/>
                <a:ea typeface="Calibri" pitchFamily="34" charset="-122"/>
                <a:cs typeface="Calibri" pitchFamily="34" charset="-120"/>
              </a:rPr>
              <a:t>Hosting or maintenance cost: Approx. Rs. 200 per month (cloud tier and filter or part replacement)</a:t>
            </a:r>
            <a:endParaRPr lang="en-US" sz="1600" dirty="0"/>
          </a:p>
          <a:p>
            <a:pPr marL="279400" indent="-279400">
              <a:spcAft>
                <a:spcPts val="1400"/>
              </a:spcAft>
              <a:buSzPct val="100000"/>
              <a:buChar char="■"/>
            </a:pPr>
            <a:r>
              <a:rPr lang="en-US" sz="1600" dirty="0">
                <a:solidFill>
                  <a:srgbClr val="000000"/>
                </a:solidFill>
                <a:latin typeface="Calibri" pitchFamily="34" charset="0"/>
                <a:ea typeface="Calibri" pitchFamily="34" charset="-122"/>
                <a:cs typeface="Calibri" pitchFamily="34" charset="-120"/>
              </a:rPr>
              <a:t>Estimated total: Approx. Rs. 8,500 - 9,000 (INR) for the prototype and first month</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Use Cases</a:t>
            </a:r>
            <a:endParaRPr lang="en-US" sz="2200" dirty="0"/>
          </a:p>
        </p:txBody>
      </p:sp>
      <p:sp>
        <p:nvSpPr>
          <p:cNvPr id="3" name="Text 1"/>
          <p:cNvSpPr txBox="1"/>
          <p:nvPr/>
        </p:nvSpPr>
        <p:spPr>
          <a:xfrm>
            <a:off x="2194560" y="73152"/>
            <a:ext cx="4572000" cy="502920"/>
          </a:xfrm>
          <a:prstGeom prst="rect">
            <a:avLst/>
          </a:prstGeom>
          <a:noFill/>
          <a:ln/>
        </p:spPr>
        <p:txBody>
          <a:bodyPr wrap="square" lIns="0" tIns="0" rIns="0" bIns="0" rtlCol="0" anchor="ctr"/>
          <a:lstStyle/>
          <a:p>
            <a:pPr indent="0" marL="0">
              <a:buNone/>
            </a:pPr>
            <a:r>
              <a:rPr lang="en-US" sz="1300" dirty="0">
                <a:solidFill>
                  <a:srgbClr val="1B4D36"/>
                </a:solidFill>
                <a:latin typeface="Calibri" pitchFamily="34" charset="0"/>
                <a:ea typeface="Calibri" pitchFamily="34" charset="-122"/>
                <a:cs typeface="Calibri" pitchFamily="34" charset="-120"/>
              </a:rPr>
              <a:t>(compulsorily 3 use cases must be there)</a:t>
            </a:r>
            <a:endParaRPr lang="en-US" sz="1300" dirty="0"/>
          </a:p>
        </p:txBody>
      </p:sp>
      <p:sp>
        <p:nvSpPr>
          <p:cNvPr id="4" name="Text 2"/>
          <p:cNvSpPr txBox="1"/>
          <p:nvPr/>
        </p:nvSpPr>
        <p:spPr>
          <a:xfrm>
            <a:off x="731520" y="1920240"/>
            <a:ext cx="7772400" cy="4023360"/>
          </a:xfrm>
          <a:prstGeom prst="rect">
            <a:avLst/>
          </a:prstGeom>
          <a:noFill/>
          <a:ln/>
        </p:spPr>
        <p:txBody>
          <a:bodyPr wrap="square" lIns="0" tIns="0" rIns="0" bIns="0" rtlCol="0" anchor="t"/>
          <a:lstStyle/>
          <a:p>
            <a:pPr marL="279400" indent="-279400">
              <a:spcAft>
                <a:spcPts val="1400"/>
              </a:spcAft>
              <a:buSzPct val="100000"/>
              <a:buChar char="■"/>
            </a:pPr>
            <a:r>
              <a:rPr lang="en-US" sz="1700" dirty="0">
                <a:solidFill>
                  <a:srgbClr val="000000"/>
                </a:solidFill>
                <a:latin typeface="Calibri" pitchFamily="34" charset="0"/>
                <a:ea typeface="Calibri" pitchFamily="34" charset="-122"/>
                <a:cs typeface="Calibri" pitchFamily="34" charset="-120"/>
              </a:rPr>
              <a:t>Use case 1: Apartment families in monsoon season dry daily laundry indoors in a few hours without a balcony or terrace.</a:t>
            </a:r>
            <a:endParaRPr lang="en-US" sz="1700" dirty="0"/>
          </a:p>
          <a:p>
            <a:pPr marL="279400" indent="-279400">
              <a:spcAft>
                <a:spcPts val="1400"/>
              </a:spcAft>
              <a:buSzPct val="100000"/>
              <a:buChar char="■"/>
            </a:pPr>
            <a:r>
              <a:rPr lang="en-US" sz="1700" dirty="0">
                <a:solidFill>
                  <a:srgbClr val="000000"/>
                </a:solidFill>
                <a:latin typeface="Calibri" pitchFamily="34" charset="0"/>
                <a:ea typeface="Calibri" pitchFamily="34" charset="-122"/>
                <a:cs typeface="Calibri" pitchFamily="34" charset="-120"/>
              </a:rPr>
              <a:t>Use case 2: Hostel students and working professionals with limited space fold the dryer away after use and dry clothes quickly before classes or work.</a:t>
            </a:r>
            <a:endParaRPr lang="en-US" sz="1700" dirty="0"/>
          </a:p>
          <a:p>
            <a:pPr marL="279400" indent="-279400">
              <a:spcAft>
                <a:spcPts val="1400"/>
              </a:spcAft>
              <a:buSzPct val="100000"/>
              <a:buChar char="■"/>
            </a:pPr>
            <a:r>
              <a:rPr lang="en-US" sz="1700" dirty="0">
                <a:solidFill>
                  <a:srgbClr val="000000"/>
                </a:solidFill>
                <a:latin typeface="Calibri" pitchFamily="34" charset="0"/>
                <a:ea typeface="Calibri" pitchFamily="34" charset="-122"/>
                <a:cs typeface="Calibri" pitchFamily="34" charset="-120"/>
              </a:rPr>
              <a:t>Use case 3: Hospitals, elder-care homes and small laundries dry uniforms and linens hygienically and quickly without sunlight or vented dryers.</a:t>
            </a:r>
            <a:endParaRPr lang="en-US" sz="1700" dirty="0"/>
          </a:p>
        </p:txBody>
      </p:sp>
      <p:sp>
        <p:nvSpPr>
          <p:cNvPr id="5" name="Text 3"/>
          <p:cNvSpPr txBox="1"/>
          <p:nvPr/>
        </p:nvSpPr>
        <p:spPr>
          <a:xfrm>
            <a:off x="731520" y="5394960"/>
            <a:ext cx="7772400" cy="3200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Note: Additional slides may be included only for this section.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Impacts and Benefits</a:t>
            </a:r>
            <a:endParaRPr lang="en-US" sz="2200" dirty="0"/>
          </a:p>
        </p:txBody>
      </p:sp>
      <p:sp>
        <p:nvSpPr>
          <p:cNvPr id="3" name="Text 1"/>
          <p:cNvSpPr txBox="1"/>
          <p:nvPr/>
        </p:nvSpPr>
        <p:spPr>
          <a:xfrm>
            <a:off x="731520" y="2011680"/>
            <a:ext cx="7772400" cy="3840480"/>
          </a:xfrm>
          <a:prstGeom prst="rect">
            <a:avLst/>
          </a:prstGeom>
          <a:noFill/>
          <a:ln/>
        </p:spPr>
        <p:txBody>
          <a:bodyPr wrap="square" lIns="0" tIns="0" rIns="0" bIns="0" rtlCol="0" anchor="t"/>
          <a:lstStyle/>
          <a:p>
            <a:pPr marL="279400" indent="-279400">
              <a:spcAft>
                <a:spcPts val="1400"/>
              </a:spcAft>
              <a:buSzPct val="100000"/>
              <a:buChar char="■"/>
            </a:pPr>
            <a:r>
              <a:rPr lang="en-US" sz="1700" dirty="0">
                <a:solidFill>
                  <a:srgbClr val="000000"/>
                </a:solidFill>
                <a:latin typeface="Calibri" pitchFamily="34" charset="0"/>
                <a:ea typeface="Calibri" pitchFamily="34" charset="-122"/>
                <a:cs typeface="Calibri" pitchFamily="34" charset="-120"/>
              </a:rPr>
              <a:t>Benefit to users: fresh, odour-free clothes in 2-4 hours, reduced mould and a cleaner indoor environment.</a:t>
            </a:r>
            <a:endParaRPr lang="en-US" sz="1700" dirty="0"/>
          </a:p>
          <a:p>
            <a:pPr marL="279400" indent="-279400">
              <a:spcAft>
                <a:spcPts val="1400"/>
              </a:spcAft>
              <a:buSzPct val="100000"/>
              <a:buChar char="■"/>
            </a:pPr>
            <a:r>
              <a:rPr lang="en-US" sz="1700" dirty="0">
                <a:solidFill>
                  <a:srgbClr val="000000"/>
                </a:solidFill>
                <a:latin typeface="Calibri" pitchFamily="34" charset="0"/>
                <a:ea typeface="Calibri" pitchFamily="34" charset="-122"/>
                <a:cs typeface="Calibri" pitchFamily="34" charset="-120"/>
              </a:rPr>
              <a:t>Social, economic and environmental impact: up to 60-70% less energy than tumble dryers, lower electricity bills, and healthier homes for low-sunlight households.</a:t>
            </a:r>
            <a:endParaRPr lang="en-US" sz="1700" dirty="0"/>
          </a:p>
          <a:p>
            <a:pPr marL="279400" indent="-279400">
              <a:spcAft>
                <a:spcPts val="1400"/>
              </a:spcAft>
              <a:buSzPct val="100000"/>
              <a:buChar char="■"/>
            </a:pPr>
            <a:r>
              <a:rPr lang="en-US" sz="1700" dirty="0">
                <a:solidFill>
                  <a:srgbClr val="000000"/>
                </a:solidFill>
                <a:latin typeface="Calibri" pitchFamily="34" charset="0"/>
                <a:ea typeface="Calibri" pitchFamily="34" charset="-122"/>
                <a:cs typeface="Calibri" pitchFamily="34" charset="-120"/>
              </a:rPr>
              <a:t>Expected measurable outcome: drying time cut from 24-48 hours to under 4 hours with a running cost of about Rs. 3-5 per load.</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Sustainable Development Goals (SDGs)</a:t>
            </a:r>
            <a:endParaRPr lang="en-US" sz="2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7863840" cy="914400"/>
        </p:xfrm>
        <a:graphic>
          <a:graphicData uri="http://schemas.openxmlformats.org/drawingml/2006/table">
            <a:tbl>
              <a:tblPr/>
              <a:tblGrid>
                <a:gridCol w="1188720"/>
                <a:gridCol w="1280160"/>
                <a:gridCol w="2194560"/>
                <a:gridCol w="320040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SDG Number</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56A47"/>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Target Number</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56A47"/>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Goal Name</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56A47"/>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Connection</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56A47"/>
                    </a:solidFill>
                  </a:tcPr>
                </a:tc>
              </a:tr>
              <a:tr h="86868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SDG 7</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Target 7.3</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Affordable and Clean Energy</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Doubles energy efficiency vs. conventional tumble dryers, cutting household electricity use.</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r>
              <a:tr h="86868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SDG 11</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7F3"/>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Target 11.1</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7F3"/>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Sustainable Cities and Communities</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7F3"/>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Provides affordable, space-saving laundry drying for small urban homes.</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7F3"/>
                    </a:solidFill>
                  </a:tcPr>
                </a:tc>
              </a:tr>
              <a:tr h="86868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SDG 12</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Target 12.2</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Responsible Consumption and Production</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Reuses condensed water and promotes long-lasting, repairable, low-power design.</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Individual Member Contribution</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14400" y="1371600"/>
          <a:ext cx="7315200" cy="914400"/>
        </p:xfrm>
        <a:graphic>
          <a:graphicData uri="http://schemas.openxmlformats.org/drawingml/2006/table">
            <a:tbl>
              <a:tblPr/>
              <a:tblGrid>
                <a:gridCol w="1828800"/>
                <a:gridCol w="5486400"/>
              </a:tblGrid>
              <a:tr h="54864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Member</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56A47"/>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Contribution or responsibility</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56A47"/>
                    </a:solidFill>
                  </a:tcPr>
                </a:tc>
              </a:tr>
              <a:tr h="86868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Sahitya Raman</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Team lead: problem research, project planning and final presentation.</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r>
              <a:tr h="86868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Govardan S</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7F3"/>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Hardware: dehumidifier module, heater, fan and enclosure design.</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7F3"/>
                    </a:solidFill>
                  </a:tcPr>
                </a:tc>
              </a:tr>
              <a:tr h="86868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Sriramula Suneeth Kumar</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Embedded and IoT: ESP32 firmware, sensors and control logic.</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0F0E6"/>
                    </a:solidFill>
                  </a:tcPr>
                </a:tc>
              </a:tr>
              <a:tr h="86868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P M Indraj</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7F3"/>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Mobile app, cloud database, testing and cost analysis.</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7F3"/>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73152"/>
            <a:ext cx="7132320" cy="502920"/>
          </a:xfrm>
          <a:prstGeom prst="rect">
            <a:avLst/>
          </a:prstGeom>
          <a:noFill/>
          <a:ln/>
        </p:spPr>
        <p:txBody>
          <a:bodyPr wrap="square" lIns="0" tIns="0" rIns="0" bIns="0" rtlCol="0" anchor="ctr"/>
          <a:lstStyle/>
          <a:p>
            <a:pPr indent="0" marL="0">
              <a:buNone/>
            </a:pPr>
            <a:r>
              <a:rPr lang="en-US" sz="2200" b="1" dirty="0">
                <a:solidFill>
                  <a:srgbClr val="1B4D36"/>
                </a:solidFill>
                <a:latin typeface="Calibri" pitchFamily="34" charset="0"/>
                <a:ea typeface="Calibri" pitchFamily="34" charset="-122"/>
                <a:cs typeface="Calibri" pitchFamily="34" charset="-120"/>
              </a:rPr>
              <a:t>Yukti ID</a:t>
            </a:r>
            <a:endParaRPr lang="en-US" sz="2200" dirty="0"/>
          </a:p>
        </p:txBody>
      </p:sp>
      <p:sp>
        <p:nvSpPr>
          <p:cNvPr id="3" name="Shape 1"/>
          <p:cNvSpPr/>
          <p:nvPr/>
        </p:nvSpPr>
        <p:spPr>
          <a:xfrm>
            <a:off x="1828800" y="2560320"/>
            <a:ext cx="5449824" cy="1645920"/>
          </a:xfrm>
          <a:prstGeom prst="roundRect">
            <a:avLst>
              <a:gd name="adj" fmla="val 10000"/>
            </a:avLst>
          </a:prstGeom>
          <a:solidFill>
            <a:srgbClr val="FFFFFF"/>
          </a:solidFill>
          <a:ln w="28575">
            <a:solidFill>
              <a:srgbClr val="256A47"/>
            </a:solidFill>
            <a:prstDash val="solid"/>
          </a:ln>
        </p:spPr>
      </p:sp>
      <p:sp>
        <p:nvSpPr>
          <p:cNvPr id="4" name="Shape 2"/>
          <p:cNvSpPr/>
          <p:nvPr/>
        </p:nvSpPr>
        <p:spPr>
          <a:xfrm>
            <a:off x="3813048" y="2331720"/>
            <a:ext cx="1508760" cy="365760"/>
          </a:xfrm>
          <a:prstGeom prst="roundRect">
            <a:avLst>
              <a:gd name="adj" fmla="val 20000"/>
            </a:avLst>
          </a:prstGeom>
          <a:solidFill>
            <a:srgbClr val="256A47"/>
          </a:solidFill>
          <a:ln w="12700">
            <a:solidFill>
              <a:srgbClr val="256A47"/>
            </a:solidFill>
            <a:prstDash val="solid"/>
          </a:ln>
        </p:spPr>
      </p:sp>
      <p:sp>
        <p:nvSpPr>
          <p:cNvPr id="5" name="Text 3"/>
          <p:cNvSpPr txBox="1"/>
          <p:nvPr/>
        </p:nvSpPr>
        <p:spPr>
          <a:xfrm>
            <a:off x="3813048" y="2331720"/>
            <a:ext cx="1508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Yukti ID</a:t>
            </a:r>
            <a:endParaRPr lang="en-US" sz="1400" dirty="0"/>
          </a:p>
        </p:txBody>
      </p:sp>
      <p:sp>
        <p:nvSpPr>
          <p:cNvPr id="6" name="Text 4"/>
          <p:cNvSpPr txBox="1"/>
          <p:nvPr/>
        </p:nvSpPr>
        <p:spPr>
          <a:xfrm>
            <a:off x="1828800" y="2834640"/>
            <a:ext cx="5449824" cy="1188720"/>
          </a:xfrm>
          <a:prstGeom prst="rect">
            <a:avLst/>
          </a:prstGeom>
          <a:noFill/>
          <a:ln/>
        </p:spPr>
        <p:txBody>
          <a:bodyPr wrap="square" lIns="0" tIns="0" rIns="0" bIns="0" rtlCol="0" anchor="ctr"/>
          <a:lstStyle/>
          <a:p>
            <a:pPr algn="ctr" indent="0" marL="0">
              <a:buNone/>
            </a:pPr>
            <a:r>
              <a:rPr lang="en-US" sz="3200" b="1" dirty="0">
                <a:solidFill>
                  <a:srgbClr val="1B4D36"/>
                </a:solidFill>
                <a:latin typeface="Calibri" pitchFamily="34" charset="0"/>
                <a:ea typeface="Calibri" pitchFamily="34" charset="-122"/>
                <a:cs typeface="Calibri" pitchFamily="34" charset="-120"/>
              </a:rPr>
              <a:t>IR2026-1051015</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Final Presentation</dc:title>
  <dc:subject>PptxGenJS Presentation</dc:subject>
  <dc:creator>PptxGenJS</dc:creator>
  <cp:lastModifiedBy>PptxGenJS</cp:lastModifiedBy>
  <cp:revision>1</cp:revision>
  <dcterms:created xsi:type="dcterms:W3CDTF">2026-10-11T07:51:36Z</dcterms:created>
  <dcterms:modified xsi:type="dcterms:W3CDTF">2026-10-11T07:51:36Z</dcterms:modified>
</cp:coreProperties>
</file>