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libri (MS) Bold" charset="1" panose="020F0702030404030204"/>
      <p:regular r:id="rId15"/>
    </p:embeddedFont>
    <p:embeddedFont>
      <p:font typeface="Cambria Bold" charset="1" panose="02040803050406030204"/>
      <p:regular r:id="rId16"/>
    </p:embeddedFont>
    <p:embeddedFont>
      <p:font typeface="Calibri (MS)" charset="1" panose="020F0502020204030204"/>
      <p:regular r:id="rId17"/>
    </p:embeddedFont>
    <p:embeddedFont>
      <p:font typeface="Aptos Bold" charset="1" panose="020B0004020202020204"/>
      <p:regular r:id="rId18"/>
    </p:embeddedFont>
    <p:embeddedFont>
      <p:font typeface="Aptos" charset="1" panose="020B00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B35"/>
        </a:solidFill>
      </p:bgPr>
    </p:bg>
    <p:spTree>
      <p:nvGrpSpPr>
        <p:cNvPr id="1" name=""/>
        <p:cNvGrpSpPr/>
        <p:nvPr/>
      </p:nvGrpSpPr>
      <p:grpSpPr>
        <a:xfrm>
          <a:off x="0" y="0"/>
          <a:ext cx="0" cy="0"/>
          <a:chOff x="0" y="0"/>
          <a:chExt cx="0" cy="0"/>
        </a:xfrm>
      </p:grpSpPr>
      <p:grpSp>
        <p:nvGrpSpPr>
          <p:cNvPr name="Group 2" id="2"/>
          <p:cNvGrpSpPr/>
          <p:nvPr/>
        </p:nvGrpSpPr>
        <p:grpSpPr>
          <a:xfrm rot="5400000">
            <a:off x="13251037" y="-1845745"/>
            <a:ext cx="5566372" cy="4823870"/>
            <a:chOff x="0" y="0"/>
            <a:chExt cx="7421829" cy="6431826"/>
          </a:xfrm>
        </p:grpSpPr>
        <p:sp>
          <p:nvSpPr>
            <p:cNvPr name="Freeform 3" id="3"/>
            <p:cNvSpPr/>
            <p:nvPr/>
          </p:nvSpPr>
          <p:spPr>
            <a:xfrm flipH="false" flipV="false" rot="0">
              <a:off x="0" y="0"/>
              <a:ext cx="7421880" cy="6431788"/>
            </a:xfrm>
            <a:custGeom>
              <a:avLst/>
              <a:gdLst/>
              <a:ahLst/>
              <a:cxnLst/>
              <a:rect r="r" b="b" t="t" l="l"/>
              <a:pathLst>
                <a:path h="6431788" w="7421880">
                  <a:moveTo>
                    <a:pt x="0" y="3215894"/>
                  </a:moveTo>
                  <a:lnTo>
                    <a:pt x="1607947" y="0"/>
                  </a:lnTo>
                  <a:lnTo>
                    <a:pt x="5813933" y="0"/>
                  </a:lnTo>
                  <a:lnTo>
                    <a:pt x="7421880" y="3215894"/>
                  </a:lnTo>
                  <a:lnTo>
                    <a:pt x="5813933" y="6431788"/>
                  </a:lnTo>
                  <a:lnTo>
                    <a:pt x="1607947" y="6431788"/>
                  </a:lnTo>
                  <a:close/>
                </a:path>
              </a:pathLst>
            </a:custGeom>
            <a:blipFill>
              <a:blip r:embed="rId2">
                <a:alphaModFix amt="0"/>
              </a:blip>
              <a:stretch>
                <a:fillRect l="-61188" t="0" r="-61187" b="0"/>
              </a:stretch>
            </a:blipFill>
            <a:ln w="23812" cap="sq">
              <a:solidFill>
                <a:srgbClr val="4FA278"/>
              </a:solidFill>
              <a:prstDash val="solid"/>
              <a:miter/>
            </a:ln>
          </p:spPr>
        </p:sp>
      </p:grpSp>
      <p:grpSp>
        <p:nvGrpSpPr>
          <p:cNvPr name="Group 4" id="4"/>
          <p:cNvGrpSpPr/>
          <p:nvPr/>
        </p:nvGrpSpPr>
        <p:grpSpPr>
          <a:xfrm rot="5400000">
            <a:off x="15774457" y="2525011"/>
            <a:ext cx="5566372" cy="4823870"/>
            <a:chOff x="0" y="0"/>
            <a:chExt cx="7421829" cy="6431826"/>
          </a:xfrm>
        </p:grpSpPr>
        <p:sp>
          <p:nvSpPr>
            <p:cNvPr name="Freeform 5" id="5"/>
            <p:cNvSpPr/>
            <p:nvPr/>
          </p:nvSpPr>
          <p:spPr>
            <a:xfrm flipH="false" flipV="false" rot="0">
              <a:off x="0" y="0"/>
              <a:ext cx="7421880" cy="6431788"/>
            </a:xfrm>
            <a:custGeom>
              <a:avLst/>
              <a:gdLst/>
              <a:ahLst/>
              <a:cxnLst/>
              <a:rect r="r" b="b" t="t" l="l"/>
              <a:pathLst>
                <a:path h="6431788" w="7421880">
                  <a:moveTo>
                    <a:pt x="0" y="3215894"/>
                  </a:moveTo>
                  <a:lnTo>
                    <a:pt x="1607947" y="0"/>
                  </a:lnTo>
                  <a:lnTo>
                    <a:pt x="5813933" y="0"/>
                  </a:lnTo>
                  <a:lnTo>
                    <a:pt x="7421880" y="3215894"/>
                  </a:lnTo>
                  <a:lnTo>
                    <a:pt x="5813933" y="6431788"/>
                  </a:lnTo>
                  <a:lnTo>
                    <a:pt x="1607947" y="6431788"/>
                  </a:lnTo>
                  <a:close/>
                </a:path>
              </a:pathLst>
            </a:custGeom>
            <a:solidFill>
              <a:srgbClr val="026855">
                <a:alpha val="5882"/>
              </a:srgbClr>
            </a:solidFill>
            <a:ln w="23812" cap="sq">
              <a:solidFill>
                <a:srgbClr val="4FA278"/>
              </a:solidFill>
              <a:prstDash val="solid"/>
              <a:miter/>
            </a:ln>
          </p:spPr>
        </p:sp>
      </p:grpSp>
      <p:grpSp>
        <p:nvGrpSpPr>
          <p:cNvPr name="Group 6" id="6"/>
          <p:cNvGrpSpPr/>
          <p:nvPr/>
        </p:nvGrpSpPr>
        <p:grpSpPr>
          <a:xfrm rot="5400000">
            <a:off x="13251037" y="6896310"/>
            <a:ext cx="5566372" cy="4823870"/>
            <a:chOff x="0" y="0"/>
            <a:chExt cx="7421829" cy="6431826"/>
          </a:xfrm>
        </p:grpSpPr>
        <p:sp>
          <p:nvSpPr>
            <p:cNvPr name="Freeform 7" id="7"/>
            <p:cNvSpPr/>
            <p:nvPr/>
          </p:nvSpPr>
          <p:spPr>
            <a:xfrm flipH="false" flipV="false" rot="0">
              <a:off x="0" y="0"/>
              <a:ext cx="7421880" cy="6431788"/>
            </a:xfrm>
            <a:custGeom>
              <a:avLst/>
              <a:gdLst/>
              <a:ahLst/>
              <a:cxnLst/>
              <a:rect r="r" b="b" t="t" l="l"/>
              <a:pathLst>
                <a:path h="6431788" w="7421880">
                  <a:moveTo>
                    <a:pt x="0" y="3215894"/>
                  </a:moveTo>
                  <a:lnTo>
                    <a:pt x="1607947" y="0"/>
                  </a:lnTo>
                  <a:lnTo>
                    <a:pt x="5813933" y="0"/>
                  </a:lnTo>
                  <a:lnTo>
                    <a:pt x="7421880" y="3215894"/>
                  </a:lnTo>
                  <a:lnTo>
                    <a:pt x="5813933" y="6431788"/>
                  </a:lnTo>
                  <a:lnTo>
                    <a:pt x="1607947" y="6431788"/>
                  </a:lnTo>
                  <a:close/>
                </a:path>
              </a:pathLst>
            </a:custGeom>
            <a:blipFill>
              <a:blip r:embed="rId2">
                <a:alphaModFix amt="0"/>
              </a:blip>
              <a:stretch>
                <a:fillRect l="-61188" t="0" r="-61187" b="0"/>
              </a:stretch>
            </a:blipFill>
            <a:ln w="23812" cap="sq">
              <a:solidFill>
                <a:srgbClr val="4FA278"/>
              </a:solidFill>
              <a:prstDash val="solid"/>
              <a:miter/>
            </a:ln>
          </p:spPr>
        </p:sp>
      </p:grpSp>
      <p:grpSp>
        <p:nvGrpSpPr>
          <p:cNvPr name="Group 8" id="8"/>
          <p:cNvGrpSpPr/>
          <p:nvPr/>
        </p:nvGrpSpPr>
        <p:grpSpPr>
          <a:xfrm rot="5400000">
            <a:off x="9920878" y="4766043"/>
            <a:ext cx="870480" cy="753837"/>
            <a:chOff x="0" y="0"/>
            <a:chExt cx="1160640" cy="1005116"/>
          </a:xfrm>
        </p:grpSpPr>
        <p:sp>
          <p:nvSpPr>
            <p:cNvPr name="Freeform 9" id="9"/>
            <p:cNvSpPr/>
            <p:nvPr/>
          </p:nvSpPr>
          <p:spPr>
            <a:xfrm flipH="false" flipV="false" rot="0">
              <a:off x="0" y="0"/>
              <a:ext cx="1160653" cy="1005078"/>
            </a:xfrm>
            <a:custGeom>
              <a:avLst/>
              <a:gdLst/>
              <a:ahLst/>
              <a:cxnLst/>
              <a:rect r="r" b="b" t="t" l="l"/>
              <a:pathLst>
                <a:path h="1005078" w="1160653">
                  <a:moveTo>
                    <a:pt x="0" y="502539"/>
                  </a:moveTo>
                  <a:lnTo>
                    <a:pt x="251333" y="0"/>
                  </a:lnTo>
                  <a:lnTo>
                    <a:pt x="909320" y="0"/>
                  </a:lnTo>
                  <a:lnTo>
                    <a:pt x="1160653" y="502539"/>
                  </a:lnTo>
                  <a:lnTo>
                    <a:pt x="909320" y="1005078"/>
                  </a:lnTo>
                  <a:lnTo>
                    <a:pt x="251333" y="1005078"/>
                  </a:lnTo>
                  <a:close/>
                </a:path>
              </a:pathLst>
            </a:custGeom>
            <a:solidFill>
              <a:srgbClr val="7AC143"/>
            </a:solidFill>
          </p:spPr>
        </p:sp>
      </p:grpSp>
      <p:grpSp>
        <p:nvGrpSpPr>
          <p:cNvPr name="Group 10" id="10"/>
          <p:cNvGrpSpPr/>
          <p:nvPr/>
        </p:nvGrpSpPr>
        <p:grpSpPr>
          <a:xfrm rot="5400000">
            <a:off x="16274520" y="2592543"/>
            <a:ext cx="506520" cy="438483"/>
            <a:chOff x="0" y="0"/>
            <a:chExt cx="675361" cy="584644"/>
          </a:xfrm>
        </p:grpSpPr>
        <p:sp>
          <p:nvSpPr>
            <p:cNvPr name="Freeform 11" id="11"/>
            <p:cNvSpPr/>
            <p:nvPr/>
          </p:nvSpPr>
          <p:spPr>
            <a:xfrm flipH="false" flipV="false" rot="0">
              <a:off x="0" y="0"/>
              <a:ext cx="675386" cy="584581"/>
            </a:xfrm>
            <a:custGeom>
              <a:avLst/>
              <a:gdLst/>
              <a:ahLst/>
              <a:cxnLst/>
              <a:rect r="r" b="b" t="t" l="l"/>
              <a:pathLst>
                <a:path h="584581" w="675386">
                  <a:moveTo>
                    <a:pt x="0" y="292354"/>
                  </a:moveTo>
                  <a:lnTo>
                    <a:pt x="146177" y="0"/>
                  </a:lnTo>
                  <a:lnTo>
                    <a:pt x="529209" y="0"/>
                  </a:lnTo>
                  <a:lnTo>
                    <a:pt x="675386" y="292354"/>
                  </a:lnTo>
                  <a:lnTo>
                    <a:pt x="529209" y="584581"/>
                  </a:lnTo>
                  <a:lnTo>
                    <a:pt x="146177" y="584581"/>
                  </a:lnTo>
                  <a:close/>
                </a:path>
              </a:pathLst>
            </a:custGeom>
            <a:solidFill>
              <a:srgbClr val="7AC143">
                <a:alpha val="48627"/>
              </a:srgbClr>
            </a:solidFill>
          </p:spPr>
        </p:sp>
      </p:grpSp>
      <p:grpSp>
        <p:nvGrpSpPr>
          <p:cNvPr name="Group 12" id="12"/>
          <p:cNvGrpSpPr/>
          <p:nvPr/>
        </p:nvGrpSpPr>
        <p:grpSpPr>
          <a:xfrm rot="5400000">
            <a:off x="10303735" y="2160003"/>
            <a:ext cx="6413583" cy="5554437"/>
            <a:chOff x="0" y="0"/>
            <a:chExt cx="8551443" cy="7405916"/>
          </a:xfrm>
        </p:grpSpPr>
        <p:sp>
          <p:nvSpPr>
            <p:cNvPr name="Freeform 13" id="13"/>
            <p:cNvSpPr/>
            <p:nvPr/>
          </p:nvSpPr>
          <p:spPr>
            <a:xfrm flipH="false" flipV="false" rot="0">
              <a:off x="0" y="0"/>
              <a:ext cx="8551418" cy="7405878"/>
            </a:xfrm>
            <a:custGeom>
              <a:avLst/>
              <a:gdLst/>
              <a:ahLst/>
              <a:cxnLst/>
              <a:rect r="r" b="b" t="t" l="l"/>
              <a:pathLst>
                <a:path h="7405878" w="8551418">
                  <a:moveTo>
                    <a:pt x="0" y="3702939"/>
                  </a:moveTo>
                  <a:lnTo>
                    <a:pt x="1851533" y="0"/>
                  </a:lnTo>
                  <a:lnTo>
                    <a:pt x="6700012" y="0"/>
                  </a:lnTo>
                  <a:lnTo>
                    <a:pt x="8551418" y="3702939"/>
                  </a:lnTo>
                  <a:lnTo>
                    <a:pt x="6700012" y="7405878"/>
                  </a:lnTo>
                  <a:lnTo>
                    <a:pt x="1851533" y="7405878"/>
                  </a:lnTo>
                  <a:close/>
                </a:path>
              </a:pathLst>
            </a:custGeom>
            <a:solidFill>
              <a:srgbClr val="026855">
                <a:alpha val="20000"/>
              </a:srgbClr>
            </a:solidFill>
          </p:spPr>
        </p:sp>
      </p:grpSp>
      <p:grpSp>
        <p:nvGrpSpPr>
          <p:cNvPr name="Group 14" id="14"/>
          <p:cNvGrpSpPr/>
          <p:nvPr/>
        </p:nvGrpSpPr>
        <p:grpSpPr>
          <a:xfrm rot="5400000">
            <a:off x="10119893" y="7186612"/>
            <a:ext cx="1294876" cy="1125312"/>
            <a:chOff x="0" y="0"/>
            <a:chExt cx="1726502" cy="1500416"/>
          </a:xfrm>
        </p:grpSpPr>
        <p:sp>
          <p:nvSpPr>
            <p:cNvPr name="Freeform 15" id="15"/>
            <p:cNvSpPr/>
            <p:nvPr/>
          </p:nvSpPr>
          <p:spPr>
            <a:xfrm flipH="false" flipV="false" rot="0">
              <a:off x="0" y="0"/>
              <a:ext cx="1726565" cy="1500378"/>
            </a:xfrm>
            <a:custGeom>
              <a:avLst/>
              <a:gdLst/>
              <a:ahLst/>
              <a:cxnLst/>
              <a:rect r="r" b="b" t="t" l="l"/>
              <a:pathLst>
                <a:path h="1500378" w="1726565">
                  <a:moveTo>
                    <a:pt x="0" y="750189"/>
                  </a:moveTo>
                  <a:lnTo>
                    <a:pt x="375158" y="0"/>
                  </a:lnTo>
                  <a:lnTo>
                    <a:pt x="1351407" y="0"/>
                  </a:lnTo>
                  <a:lnTo>
                    <a:pt x="1726565" y="750189"/>
                  </a:lnTo>
                  <a:lnTo>
                    <a:pt x="1351407" y="1500378"/>
                  </a:lnTo>
                  <a:lnTo>
                    <a:pt x="375158" y="1500378"/>
                  </a:lnTo>
                  <a:close/>
                </a:path>
              </a:pathLst>
            </a:custGeom>
            <a:blipFill>
              <a:blip r:embed="rId2">
                <a:alphaModFix amt="0"/>
              </a:blip>
              <a:stretch>
                <a:fillRect l="-61499" t="0" r="-61496" b="-2"/>
              </a:stretch>
            </a:blipFill>
            <a:ln w="28575" cap="sq">
              <a:solidFill>
                <a:srgbClr val="7AC143"/>
              </a:solidFill>
              <a:prstDash val="solid"/>
              <a:miter/>
            </a:ln>
          </p:spPr>
        </p:sp>
      </p:grpSp>
      <p:grpSp>
        <p:nvGrpSpPr>
          <p:cNvPr name="Group 16" id="16"/>
          <p:cNvGrpSpPr/>
          <p:nvPr/>
        </p:nvGrpSpPr>
        <p:grpSpPr>
          <a:xfrm rot="5400000">
            <a:off x="10710405" y="2508342"/>
            <a:ext cx="5599709" cy="4857207"/>
            <a:chOff x="0" y="0"/>
            <a:chExt cx="7466279" cy="6476276"/>
          </a:xfrm>
        </p:grpSpPr>
        <p:sp>
          <p:nvSpPr>
            <p:cNvPr name="Freeform 17" id="17"/>
            <p:cNvSpPr/>
            <p:nvPr/>
          </p:nvSpPr>
          <p:spPr>
            <a:xfrm flipH="false" flipV="false" rot="0">
              <a:off x="0" y="0"/>
              <a:ext cx="7466330" cy="6476238"/>
            </a:xfrm>
            <a:custGeom>
              <a:avLst/>
              <a:gdLst/>
              <a:ahLst/>
              <a:cxnLst/>
              <a:rect r="r" b="b" t="t" l="l"/>
              <a:pathLst>
                <a:path h="6476238" w="7466330">
                  <a:moveTo>
                    <a:pt x="0" y="3238119"/>
                  </a:moveTo>
                  <a:lnTo>
                    <a:pt x="1619123" y="0"/>
                  </a:lnTo>
                  <a:lnTo>
                    <a:pt x="5847207" y="0"/>
                  </a:lnTo>
                  <a:lnTo>
                    <a:pt x="7466330" y="3238119"/>
                  </a:lnTo>
                  <a:lnTo>
                    <a:pt x="5847207" y="6476238"/>
                  </a:lnTo>
                  <a:lnTo>
                    <a:pt x="1619123" y="6476238"/>
                  </a:lnTo>
                  <a:close/>
                </a:path>
              </a:pathLst>
            </a:custGeom>
            <a:solidFill>
              <a:srgbClr val="FFFFFF"/>
            </a:solidFill>
            <a:ln w="57150" cap="sq">
              <a:solidFill>
                <a:srgbClr val="7AC143"/>
              </a:solidFill>
              <a:prstDash val="solid"/>
              <a:miter/>
            </a:ln>
          </p:spPr>
        </p:sp>
      </p:grpSp>
      <p:grpSp>
        <p:nvGrpSpPr>
          <p:cNvPr name="Group 18" id="18"/>
          <p:cNvGrpSpPr/>
          <p:nvPr/>
        </p:nvGrpSpPr>
        <p:grpSpPr>
          <a:xfrm rot="0">
            <a:off x="12166197" y="3189237"/>
            <a:ext cx="2687584" cy="3497037"/>
            <a:chOff x="0" y="0"/>
            <a:chExt cx="3583445" cy="4662716"/>
          </a:xfrm>
        </p:grpSpPr>
        <p:sp>
          <p:nvSpPr>
            <p:cNvPr name="Freeform 19" id="19" descr="Genesis logo"/>
            <p:cNvSpPr/>
            <p:nvPr/>
          </p:nvSpPr>
          <p:spPr>
            <a:xfrm flipH="false" flipV="false" rot="0">
              <a:off x="0" y="0"/>
              <a:ext cx="3583432" cy="4662678"/>
            </a:xfrm>
            <a:custGeom>
              <a:avLst/>
              <a:gdLst/>
              <a:ahLst/>
              <a:cxnLst/>
              <a:rect r="r" b="b" t="t" l="l"/>
              <a:pathLst>
                <a:path h="4662678" w="3583432">
                  <a:moveTo>
                    <a:pt x="0" y="0"/>
                  </a:moveTo>
                  <a:lnTo>
                    <a:pt x="3583432" y="0"/>
                  </a:lnTo>
                  <a:lnTo>
                    <a:pt x="3583432" y="4662678"/>
                  </a:lnTo>
                  <a:lnTo>
                    <a:pt x="0" y="4662678"/>
                  </a:lnTo>
                  <a:lnTo>
                    <a:pt x="0" y="0"/>
                  </a:lnTo>
                  <a:close/>
                </a:path>
              </a:pathLst>
            </a:custGeom>
            <a:blipFill>
              <a:blip r:embed="rId3"/>
              <a:stretch>
                <a:fillRect l="-4" t="0" r="-4" b="0"/>
              </a:stretch>
            </a:blipFill>
          </p:spPr>
        </p:sp>
      </p:grpSp>
      <p:grpSp>
        <p:nvGrpSpPr>
          <p:cNvPr name="Group 20" id="20"/>
          <p:cNvGrpSpPr/>
          <p:nvPr/>
        </p:nvGrpSpPr>
        <p:grpSpPr>
          <a:xfrm rot="0">
            <a:off x="822960" y="754380"/>
            <a:ext cx="7954737" cy="479517"/>
            <a:chOff x="0" y="0"/>
            <a:chExt cx="10606316" cy="639356"/>
          </a:xfrm>
        </p:grpSpPr>
        <p:sp>
          <p:nvSpPr>
            <p:cNvPr name="Freeform 21" id="21"/>
            <p:cNvSpPr/>
            <p:nvPr/>
          </p:nvSpPr>
          <p:spPr>
            <a:xfrm flipH="false" flipV="false" rot="0">
              <a:off x="0" y="0"/>
              <a:ext cx="10606320" cy="639360"/>
            </a:xfrm>
            <a:custGeom>
              <a:avLst/>
              <a:gdLst/>
              <a:ahLst/>
              <a:cxnLst/>
              <a:rect r="r" b="b" t="t" l="l"/>
              <a:pathLst>
                <a:path h="639360" w="10606320">
                  <a:moveTo>
                    <a:pt x="0" y="0"/>
                  </a:moveTo>
                  <a:lnTo>
                    <a:pt x="10606320" y="0"/>
                  </a:lnTo>
                  <a:lnTo>
                    <a:pt x="10606320" y="639360"/>
                  </a:lnTo>
                  <a:lnTo>
                    <a:pt x="0" y="639360"/>
                  </a:lnTo>
                  <a:close/>
                </a:path>
              </a:pathLst>
            </a:custGeom>
            <a:blipFill>
              <a:blip r:embed="rId2">
                <a:alphaModFix amt="0"/>
              </a:blip>
              <a:stretch>
                <a:fillRect l="0" t="-273236" r="0" b="-273236"/>
              </a:stretch>
            </a:blipFill>
          </p:spPr>
        </p:sp>
        <p:sp>
          <p:nvSpPr>
            <p:cNvPr name="TextBox 22" id="22"/>
            <p:cNvSpPr txBox="true"/>
            <p:nvPr/>
          </p:nvSpPr>
          <p:spPr>
            <a:xfrm>
              <a:off x="0" y="-38100"/>
              <a:ext cx="10606316" cy="677456"/>
            </a:xfrm>
            <a:prstGeom prst="rect">
              <a:avLst/>
            </a:prstGeom>
          </p:spPr>
          <p:txBody>
            <a:bodyPr anchor="ctr" rtlCol="false" tIns="0" lIns="0" bIns="0" rIns="0"/>
            <a:lstStyle/>
            <a:p>
              <a:pPr algn="l">
                <a:lnSpc>
                  <a:spcPts val="2160"/>
                </a:lnSpc>
              </a:pPr>
              <a:r>
                <a:rPr lang="en-US" b="true" sz="1800" spc="597">
                  <a:solidFill>
                    <a:srgbClr val="7AC143"/>
                  </a:solidFill>
                  <a:latin typeface="Calibri (MS) Bold"/>
                  <a:ea typeface="Calibri (MS) Bold"/>
                  <a:cs typeface="Calibri (MS) Bold"/>
                  <a:sym typeface="Calibri (MS) Bold"/>
                </a:rPr>
                <a:t>PRE-IDEATHON TEMPLATE</a:t>
              </a:r>
            </a:p>
          </p:txBody>
        </p:sp>
      </p:grpSp>
      <p:sp>
        <p:nvSpPr>
          <p:cNvPr name="TextBox 23" id="23"/>
          <p:cNvSpPr txBox="true"/>
          <p:nvPr/>
        </p:nvSpPr>
        <p:spPr>
          <a:xfrm rot="0">
            <a:off x="822960" y="1379220"/>
            <a:ext cx="8503377" cy="2323557"/>
          </a:xfrm>
          <a:prstGeom prst="rect">
            <a:avLst/>
          </a:prstGeom>
        </p:spPr>
        <p:txBody>
          <a:bodyPr anchor="t" rtlCol="false" tIns="0" lIns="0" bIns="0" rIns="0">
            <a:spAutoFit/>
          </a:bodyPr>
          <a:lstStyle/>
          <a:p>
            <a:pPr algn="l">
              <a:lnSpc>
                <a:spcPts val="8748"/>
              </a:lnSpc>
            </a:pPr>
            <a:r>
              <a:rPr lang="en-US" b="true" sz="8100" spc="298">
                <a:solidFill>
                  <a:srgbClr val="FFFFFF"/>
                </a:solidFill>
                <a:latin typeface="Cambria Bold"/>
                <a:ea typeface="Cambria Bold"/>
                <a:cs typeface="Cambria Bold"/>
                <a:sym typeface="Cambria Bold"/>
              </a:rPr>
              <a:t>GENESIS</a:t>
            </a:r>
          </a:p>
          <a:p>
            <a:pPr algn="l">
              <a:lnSpc>
                <a:spcPts val="8748"/>
              </a:lnSpc>
            </a:pPr>
            <a:r>
              <a:rPr lang="en-US" b="true" sz="8100" spc="298">
                <a:solidFill>
                  <a:srgbClr val="7AC143"/>
                </a:solidFill>
                <a:latin typeface="Cambria Bold"/>
                <a:ea typeface="Cambria Bold"/>
                <a:cs typeface="Cambria Bold"/>
                <a:sym typeface="Cambria Bold"/>
              </a:rPr>
              <a:t>IDEATHON</a:t>
            </a:r>
          </a:p>
        </p:txBody>
      </p:sp>
      <p:grpSp>
        <p:nvGrpSpPr>
          <p:cNvPr name="Group 24" id="24"/>
          <p:cNvGrpSpPr/>
          <p:nvPr/>
        </p:nvGrpSpPr>
        <p:grpSpPr>
          <a:xfrm rot="0">
            <a:off x="811054" y="3897154"/>
            <a:ext cx="3177950" cy="599456"/>
            <a:chOff x="0" y="0"/>
            <a:chExt cx="4237266" cy="799274"/>
          </a:xfrm>
        </p:grpSpPr>
        <p:sp>
          <p:nvSpPr>
            <p:cNvPr name="Freeform 25" id="25"/>
            <p:cNvSpPr/>
            <p:nvPr/>
          </p:nvSpPr>
          <p:spPr>
            <a:xfrm flipH="false" flipV="false" rot="0">
              <a:off x="0" y="0"/>
              <a:ext cx="4237355" cy="799338"/>
            </a:xfrm>
            <a:custGeom>
              <a:avLst/>
              <a:gdLst/>
              <a:ahLst/>
              <a:cxnLst/>
              <a:rect r="r" b="b" t="t" l="l"/>
              <a:pathLst>
                <a:path h="799338" w="4237355">
                  <a:moveTo>
                    <a:pt x="0" y="399669"/>
                  </a:moveTo>
                  <a:cubicBezTo>
                    <a:pt x="0" y="178943"/>
                    <a:pt x="178943" y="0"/>
                    <a:pt x="399669" y="0"/>
                  </a:cubicBezTo>
                  <a:lnTo>
                    <a:pt x="3837686" y="0"/>
                  </a:lnTo>
                  <a:cubicBezTo>
                    <a:pt x="4058412" y="0"/>
                    <a:pt x="4237355" y="178943"/>
                    <a:pt x="4237355" y="399669"/>
                  </a:cubicBezTo>
                  <a:cubicBezTo>
                    <a:pt x="4237355" y="620395"/>
                    <a:pt x="4058412" y="799338"/>
                    <a:pt x="3837686" y="799338"/>
                  </a:cubicBezTo>
                  <a:lnTo>
                    <a:pt x="399669" y="799338"/>
                  </a:lnTo>
                  <a:cubicBezTo>
                    <a:pt x="178943" y="799211"/>
                    <a:pt x="0" y="620395"/>
                    <a:pt x="0" y="399669"/>
                  </a:cubicBezTo>
                  <a:close/>
                </a:path>
              </a:pathLst>
            </a:custGeom>
            <a:blipFill>
              <a:blip r:embed="rId2">
                <a:alphaModFix amt="0"/>
              </a:blip>
              <a:stretch>
                <a:fillRect l="0" t="-53293" r="2" b="-53285"/>
              </a:stretch>
            </a:blipFill>
            <a:ln w="23812" cap="sq">
              <a:solidFill>
                <a:srgbClr val="7AC143"/>
              </a:solidFill>
              <a:prstDash val="solid"/>
              <a:miter/>
            </a:ln>
          </p:spPr>
        </p:sp>
        <p:sp>
          <p:nvSpPr>
            <p:cNvPr name="TextBox 26" id="26"/>
            <p:cNvSpPr txBox="true"/>
            <p:nvPr/>
          </p:nvSpPr>
          <p:spPr>
            <a:xfrm>
              <a:off x="0" y="-47625"/>
              <a:ext cx="4237266" cy="846899"/>
            </a:xfrm>
            <a:prstGeom prst="rect">
              <a:avLst/>
            </a:prstGeom>
          </p:spPr>
          <p:txBody>
            <a:bodyPr anchor="ctr" rtlCol="false" tIns="50800" lIns="50800" bIns="50800" rIns="50800"/>
            <a:lstStyle/>
            <a:p>
              <a:pPr algn="ctr">
                <a:lnSpc>
                  <a:spcPts val="2340"/>
                </a:lnSpc>
              </a:pPr>
              <a:r>
                <a:rPr lang="en-US" b="true" sz="1950" spc="448">
                  <a:solidFill>
                    <a:srgbClr val="FFFFFF"/>
                  </a:solidFill>
                  <a:latin typeface="Calibri (MS) Bold"/>
                  <a:ea typeface="Calibri (MS) Bold"/>
                  <a:cs typeface="Calibri (MS) Bold"/>
                  <a:sym typeface="Calibri (MS) Bold"/>
                </a:rPr>
                <a:t>TEAM &amp; DOMAIN</a:t>
              </a:r>
            </a:p>
          </p:txBody>
        </p:sp>
      </p:grpSp>
      <p:sp>
        <p:nvSpPr>
          <p:cNvPr name="TextBox 27" id="27"/>
          <p:cNvSpPr txBox="true"/>
          <p:nvPr/>
        </p:nvSpPr>
        <p:spPr>
          <a:xfrm rot="0">
            <a:off x="550259" y="4887630"/>
            <a:ext cx="9675724" cy="5390731"/>
          </a:xfrm>
          <a:prstGeom prst="rect">
            <a:avLst/>
          </a:prstGeom>
        </p:spPr>
        <p:txBody>
          <a:bodyPr anchor="t" rtlCol="false" tIns="0" lIns="0" bIns="0" rIns="0">
            <a:spAutoFit/>
          </a:bodyPr>
          <a:lstStyle/>
          <a:p>
            <a:pPr algn="l" marL="488632" indent="-244316" lvl="1">
              <a:lnSpc>
                <a:spcPts val="3240"/>
              </a:lnSpc>
              <a:buFont typeface="Arial"/>
              <a:buChar char="•"/>
            </a:pPr>
            <a:r>
              <a:rPr lang="en-US" sz="2700" spc="-1">
                <a:solidFill>
                  <a:srgbClr val="FFFFFF"/>
                </a:solidFill>
                <a:latin typeface="Calibri (MS)"/>
                <a:ea typeface="Calibri (MS)"/>
                <a:cs typeface="Calibri (MS)"/>
                <a:sym typeface="Calibri (MS)"/>
              </a:rPr>
              <a:t>Team Name –Mind Crafters</a:t>
            </a:r>
          </a:p>
          <a:p>
            <a:pPr algn="l" marL="488632" indent="-244316" lvl="1">
              <a:lnSpc>
                <a:spcPts val="3240"/>
              </a:lnSpc>
              <a:buFont typeface="Arial"/>
              <a:buChar char="•"/>
            </a:pPr>
            <a:r>
              <a:rPr lang="en-US" sz="2700" spc="-1">
                <a:solidFill>
                  <a:srgbClr val="FFFFFF"/>
                </a:solidFill>
                <a:latin typeface="Calibri (MS)"/>
                <a:ea typeface="Calibri (MS)"/>
                <a:cs typeface="Calibri (MS)"/>
                <a:sym typeface="Calibri (MS)"/>
              </a:rPr>
              <a:t>Team Members- </a:t>
            </a:r>
          </a:p>
          <a:p>
            <a:pPr algn="l" marL="488632" indent="-244316" lvl="1">
              <a:lnSpc>
                <a:spcPts val="3240"/>
              </a:lnSpc>
            </a:pPr>
            <a:r>
              <a:rPr lang="en-US" sz="2700" spc="-1">
                <a:solidFill>
                  <a:srgbClr val="FFFFFF"/>
                </a:solidFill>
                <a:latin typeface="Calibri (MS)"/>
                <a:ea typeface="Calibri (MS)"/>
                <a:cs typeface="Calibri (MS)"/>
                <a:sym typeface="Calibri (MS)"/>
              </a:rPr>
              <a:t>-Sahitya Raman (Team Lead) , CB.EN.U4ARE25040</a:t>
            </a:r>
          </a:p>
          <a:p>
            <a:pPr algn="l" marL="488632" indent="-244316" lvl="1">
              <a:lnSpc>
                <a:spcPts val="3240"/>
              </a:lnSpc>
            </a:pPr>
            <a:r>
              <a:rPr lang="en-US" sz="2700" spc="-1">
                <a:solidFill>
                  <a:srgbClr val="FFFFFF"/>
                </a:solidFill>
                <a:latin typeface="Calibri (MS)"/>
                <a:ea typeface="Calibri (MS)"/>
                <a:cs typeface="Calibri (MS)"/>
                <a:sym typeface="Calibri (MS)"/>
              </a:rPr>
              <a:t>-P M Indraj, CB.EN.U4ARE25033</a:t>
            </a:r>
          </a:p>
          <a:p>
            <a:pPr algn="l" marL="488632" indent="-244316" lvl="1">
              <a:lnSpc>
                <a:spcPts val="3240"/>
              </a:lnSpc>
            </a:pPr>
            <a:r>
              <a:rPr lang="en-US" sz="2700" spc="-1">
                <a:solidFill>
                  <a:srgbClr val="FFFFFF"/>
                </a:solidFill>
                <a:latin typeface="Calibri (MS)"/>
                <a:ea typeface="Calibri (MS)"/>
                <a:cs typeface="Calibri (MS)"/>
                <a:sym typeface="Calibri (MS)"/>
              </a:rPr>
              <a:t>-Govardhan S, CB.EN.U4ARE25057</a:t>
            </a:r>
          </a:p>
          <a:p>
            <a:pPr algn="l" marL="488632" indent="-244316" lvl="1">
              <a:lnSpc>
                <a:spcPts val="3240"/>
              </a:lnSpc>
            </a:pPr>
            <a:r>
              <a:rPr lang="en-US" sz="2700" spc="-1">
                <a:solidFill>
                  <a:srgbClr val="FFFFFF"/>
                </a:solidFill>
                <a:latin typeface="Calibri (MS)"/>
                <a:ea typeface="Calibri (MS)"/>
                <a:cs typeface="Calibri (MS)"/>
                <a:sym typeface="Calibri (MS)"/>
              </a:rPr>
              <a:t>-Sriramula Suneeth Kumar, CB.EN.U4ARE25050</a:t>
            </a:r>
          </a:p>
          <a:p>
            <a:pPr algn="l" marL="488632" indent="-244316" lvl="1">
              <a:lnSpc>
                <a:spcPts val="3240"/>
              </a:lnSpc>
              <a:buFont typeface="Arial"/>
              <a:buChar char="•"/>
            </a:pPr>
            <a:r>
              <a:rPr lang="en-US" sz="2700" spc="-1">
                <a:solidFill>
                  <a:srgbClr val="FFFFFF"/>
                </a:solidFill>
                <a:latin typeface="Calibri (MS)"/>
                <a:ea typeface="Calibri (MS)"/>
                <a:cs typeface="Calibri (MS)"/>
                <a:sym typeface="Calibri (MS)"/>
              </a:rPr>
              <a:t>Selected Domain - #2</a:t>
            </a:r>
          </a:p>
          <a:p>
            <a:pPr algn="l" marL="488632" indent="-244316" lvl="1">
              <a:lnSpc>
                <a:spcPts val="3240"/>
              </a:lnSpc>
              <a:buFont typeface="Arial"/>
              <a:buChar char="•"/>
            </a:pPr>
            <a:r>
              <a:rPr lang="en-US" sz="2700" spc="-1">
                <a:solidFill>
                  <a:srgbClr val="FFFFFF"/>
                </a:solidFill>
                <a:latin typeface="Calibri (MS)"/>
                <a:ea typeface="Calibri (MS)"/>
                <a:cs typeface="Calibri (MS)"/>
                <a:sym typeface="Calibri (MS)"/>
              </a:rPr>
              <a:t>Problem Statement -</a:t>
            </a:r>
          </a:p>
          <a:p>
            <a:pPr algn="l" marL="488632" indent="-244316" lvl="1">
              <a:lnSpc>
                <a:spcPts val="3240"/>
              </a:lnSpc>
            </a:pPr>
            <a:r>
              <a:rPr lang="en-US" sz="2700" spc="-1">
                <a:solidFill>
                  <a:srgbClr val="FFFFFF"/>
                </a:solidFill>
                <a:latin typeface="Calibri (MS)"/>
                <a:ea typeface="Calibri (MS)"/>
                <a:cs typeface="Calibri (MS)"/>
                <a:sym typeface="Calibri (MS)"/>
              </a:rPr>
              <a:t>How can we enable quick, reliable and space-efficient indoor drying of clothes during rainy and humid conditions?</a:t>
            </a:r>
          </a:p>
          <a:p>
            <a:pPr algn="l" marL="488632" indent="-244316" lvl="1">
              <a:lnSpc>
                <a:spcPts val="324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5904054" y="7017277"/>
            <a:ext cx="2161137" cy="1874930"/>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DOMAIN PROBLEM IN OUR WORDS</a:t>
              </a:r>
            </a:p>
          </p:txBody>
        </p:sp>
      </p:grpSp>
      <p:grpSp>
        <p:nvGrpSpPr>
          <p:cNvPr name="Group 22" id="22"/>
          <p:cNvGrpSpPr/>
          <p:nvPr/>
        </p:nvGrpSpPr>
        <p:grpSpPr>
          <a:xfrm rot="0">
            <a:off x="678656"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57400"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755543" y="2125980"/>
            <a:ext cx="14401257" cy="753837"/>
            <a:chOff x="0" y="0"/>
            <a:chExt cx="19201676" cy="1005116"/>
          </a:xfrm>
        </p:grpSpPr>
        <p:sp>
          <p:nvSpPr>
            <p:cNvPr name="Freeform 36" id="36"/>
            <p:cNvSpPr/>
            <p:nvPr/>
          </p:nvSpPr>
          <p:spPr>
            <a:xfrm flipH="false" flipV="false" rot="0">
              <a:off x="0" y="0"/>
              <a:ext cx="19201681" cy="1005120"/>
            </a:xfrm>
            <a:custGeom>
              <a:avLst/>
              <a:gdLst/>
              <a:ahLst/>
              <a:cxnLst/>
              <a:rect r="r" b="b" t="t" l="l"/>
              <a:pathLst>
                <a:path h="1005120" w="19201681">
                  <a:moveTo>
                    <a:pt x="0" y="0"/>
                  </a:moveTo>
                  <a:lnTo>
                    <a:pt x="19201681" y="0"/>
                  </a:lnTo>
                  <a:lnTo>
                    <a:pt x="19201681" y="1005120"/>
                  </a:lnTo>
                  <a:lnTo>
                    <a:pt x="0" y="1005120"/>
                  </a:lnTo>
                  <a:close/>
                </a:path>
              </a:pathLst>
            </a:custGeom>
            <a:blipFill>
              <a:blip r:embed="rId3">
                <a:alphaModFix amt="0"/>
              </a:blip>
              <a:stretch>
                <a:fillRect l="0" t="-322239" r="0" b="-322239"/>
              </a:stretch>
            </a:blipFill>
          </p:spPr>
        </p:sp>
        <p:sp>
          <p:nvSpPr>
            <p:cNvPr name="TextBox 37" id="37"/>
            <p:cNvSpPr txBox="true"/>
            <p:nvPr/>
          </p:nvSpPr>
          <p:spPr>
            <a:xfrm>
              <a:off x="0" y="-57150"/>
              <a:ext cx="19201676" cy="1062266"/>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Explain the problem in your domain simply, in your own words</a:t>
              </a:r>
            </a:p>
          </p:txBody>
        </p:sp>
      </p:grpSp>
      <p:sp>
        <p:nvSpPr>
          <p:cNvPr name="TextBox 38" id="38"/>
          <p:cNvSpPr txBox="true"/>
          <p:nvPr/>
        </p:nvSpPr>
        <p:spPr>
          <a:xfrm rot="0">
            <a:off x="679323" y="4062508"/>
            <a:ext cx="15479639" cy="7153275"/>
          </a:xfrm>
          <a:prstGeom prst="rect">
            <a:avLst/>
          </a:prstGeom>
        </p:spPr>
        <p:txBody>
          <a:bodyPr anchor="t" rtlCol="false" tIns="0" lIns="0" bIns="0" rIns="0">
            <a:spAutoFit/>
          </a:bodyPr>
          <a:lstStyle/>
          <a:p>
            <a:pPr algn="l" marL="488632" indent="-244316" lvl="1">
              <a:lnSpc>
                <a:spcPts val="3240"/>
              </a:lnSpc>
              <a:buFont typeface="Arial"/>
              <a:buChar char="•"/>
            </a:pPr>
            <a:r>
              <a:rPr lang="en-US" b="true" sz="2700" spc="-1">
                <a:solidFill>
                  <a:srgbClr val="0E2A2F"/>
                </a:solidFill>
                <a:latin typeface="Calibri (MS) Bold"/>
                <a:ea typeface="Calibri (MS) Bold"/>
                <a:cs typeface="Calibri (MS) Bold"/>
                <a:sym typeface="Calibri (MS) Bold"/>
              </a:rPr>
              <a:t>What exactly needs to be solved?</a:t>
            </a:r>
          </a:p>
          <a:p>
            <a:pPr algn="l" marL="488632" indent="-244316" lvl="1">
              <a:lnSpc>
                <a:spcPts val="3240"/>
              </a:lnSpc>
            </a:pPr>
            <a:r>
              <a:rPr lang="en-US" sz="2700" spc="-1">
                <a:solidFill>
                  <a:srgbClr val="0E2A2F"/>
                </a:solidFill>
                <a:latin typeface="Calibri (MS)"/>
                <a:ea typeface="Calibri (MS)"/>
                <a:cs typeface="Calibri (MS)"/>
                <a:sym typeface="Calibri (MS)"/>
              </a:rPr>
              <a:t>we need a compact indoor drying solution that can dry clothes efficiently, quickly while managing energy consumption, moisture and water dripping. The system should also allow  users to adjust and set drying duration or automatic cutoff to reduce operation, avoiding unnecessary energy consumption and provides different drying modes for different kinds of clothes based on drying requirements. </a:t>
            </a:r>
          </a:p>
          <a:p>
            <a:pPr algn="ctr" marL="488632" indent="-244316" lvl="1">
              <a:lnSpc>
                <a:spcPts val="3240"/>
              </a:lnSpc>
            </a:pPr>
          </a:p>
          <a:p>
            <a:pPr algn="l">
              <a:lnSpc>
                <a:spcPts val="3240"/>
              </a:lnSpc>
            </a:pPr>
            <a:r>
              <a:rPr lang="en-US" sz="2700" b="true">
                <a:solidFill>
                  <a:srgbClr val="0E2A2F"/>
                </a:solidFill>
                <a:latin typeface="Calibri (MS) Bold"/>
                <a:ea typeface="Calibri (MS) Bold"/>
                <a:cs typeface="Calibri (MS) Bold"/>
                <a:sym typeface="Calibri (MS) Bold"/>
              </a:rPr>
              <a:t>Why is it important right now?</a:t>
            </a:r>
          </a:p>
          <a:p>
            <a:pPr algn="l">
              <a:lnSpc>
                <a:spcPts val="3240"/>
              </a:lnSpc>
            </a:pPr>
            <a:r>
              <a:rPr lang="en-US" sz="2700">
                <a:solidFill>
                  <a:srgbClr val="0E2A2F"/>
                </a:solidFill>
                <a:latin typeface="Calibri (MS)"/>
                <a:ea typeface="Calibri (MS)"/>
                <a:cs typeface="Calibri (MS)"/>
                <a:sym typeface="Calibri (MS)"/>
              </a:rPr>
              <a:t>It is needed right now because </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Indoor drying takes time and significant space </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Clothes remain damp for a long time and start to give out bad odour </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Damp clothes can facilitate growth of bacteria and fungi which is unhygienic </a:t>
            </a:r>
          </a:p>
          <a:p>
            <a:pPr algn="l" marL="582930" indent="-291465" lvl="1">
              <a:lnSpc>
                <a:spcPts val="3240"/>
              </a:lnSpc>
              <a:buFont typeface="Arial"/>
              <a:buChar char="•"/>
            </a:pPr>
            <a:r>
              <a:rPr lang="en-US" sz="2700">
                <a:solidFill>
                  <a:srgbClr val="0E2A2F"/>
                </a:solidFill>
                <a:latin typeface="Calibri (MS)"/>
                <a:ea typeface="Calibri (MS)"/>
                <a:cs typeface="Calibri (MS)"/>
                <a:sym typeface="Calibri (MS)"/>
              </a:rPr>
              <a:t>Water starts dripping onto the floor if the clothes are freshly washed</a:t>
            </a:r>
          </a:p>
          <a:p>
            <a:pPr algn="l">
              <a:lnSpc>
                <a:spcPts val="3240"/>
              </a:lnSpc>
            </a:pPr>
          </a:p>
          <a:p>
            <a:pPr algn="l" marL="17213" indent="-8606" lvl="1">
              <a:lnSpc>
                <a:spcPts val="3240"/>
              </a:lnSpc>
            </a:pPr>
          </a:p>
          <a:p>
            <a:pPr algn="l" marL="22950" indent="-11475" lvl="1">
              <a:lnSpc>
                <a:spcPts val="4320"/>
              </a:lnSpc>
            </a:pPr>
          </a:p>
          <a:p>
            <a:pPr algn="l" marL="17213" indent="-8606" lvl="1">
              <a:lnSpc>
                <a:spcPts val="3240"/>
              </a:lnSpc>
            </a:pPr>
          </a:p>
          <a:p>
            <a:pPr algn="l" marL="17213" indent="-8606" lvl="1">
              <a:lnSpc>
                <a:spcPts val="3240"/>
              </a:lnSpc>
            </a:pPr>
          </a:p>
        </p:txBody>
      </p:sp>
      <p:grpSp>
        <p:nvGrpSpPr>
          <p:cNvPr name="Group 39" id="39"/>
          <p:cNvGrpSpPr/>
          <p:nvPr/>
        </p:nvGrpSpPr>
        <p:grpSpPr>
          <a:xfrm rot="0">
            <a:off x="16888501" y="9614697"/>
            <a:ext cx="685257" cy="593460"/>
            <a:chOff x="0" y="0"/>
            <a:chExt cx="913676" cy="791280"/>
          </a:xfrm>
        </p:grpSpPr>
        <p:sp>
          <p:nvSpPr>
            <p:cNvPr name="Freeform 40" id="40"/>
            <p:cNvSpPr/>
            <p:nvPr/>
          </p:nvSpPr>
          <p:spPr>
            <a:xfrm flipH="false" flipV="false" rot="0">
              <a:off x="0" y="0"/>
              <a:ext cx="913680" cy="791274"/>
            </a:xfrm>
            <a:custGeom>
              <a:avLst/>
              <a:gdLst/>
              <a:ahLst/>
              <a:cxnLst/>
              <a:rect r="r" b="b" t="t" l="l"/>
              <a:pathLst>
                <a:path h="791274" w="913680">
                  <a:moveTo>
                    <a:pt x="0" y="0"/>
                  </a:moveTo>
                  <a:lnTo>
                    <a:pt x="913680" y="0"/>
                  </a:lnTo>
                  <a:lnTo>
                    <a:pt x="913680" y="791274"/>
                  </a:lnTo>
                  <a:lnTo>
                    <a:pt x="0" y="791274"/>
                  </a:lnTo>
                  <a:close/>
                </a:path>
              </a:pathLst>
            </a:custGeom>
            <a:blipFill>
              <a:blip r:embed="rId3">
                <a:alphaModFix amt="0"/>
              </a:blip>
              <a:stretch>
                <a:fillRect l="-61116" t="0" r="-61116" b="-1"/>
              </a:stretch>
            </a:blipFill>
          </p:spPr>
        </p:sp>
        <p:sp>
          <p:nvSpPr>
            <p:cNvPr name="TextBox 41" id="41"/>
            <p:cNvSpPr txBox="true"/>
            <p:nvPr/>
          </p:nvSpPr>
          <p:spPr>
            <a:xfrm>
              <a:off x="0" y="-28575"/>
              <a:ext cx="913676" cy="819855"/>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2</a:t>
              </a:r>
            </a:p>
          </p:txBody>
        </p:sp>
      </p:grpSp>
      <p:sp>
        <p:nvSpPr>
          <p:cNvPr name="TextBox 42" id="42"/>
          <p:cNvSpPr txBox="true"/>
          <p:nvPr/>
        </p:nvSpPr>
        <p:spPr>
          <a:xfrm rot="0">
            <a:off x="766982" y="2767946"/>
            <a:ext cx="16740721" cy="925287"/>
          </a:xfrm>
          <a:prstGeom prst="rect">
            <a:avLst/>
          </a:prstGeom>
        </p:spPr>
        <p:txBody>
          <a:bodyPr anchor="t" rtlCol="false" tIns="0" lIns="0" bIns="0" rIns="0">
            <a:spAutoFit/>
          </a:bodyPr>
          <a:lstStyle/>
          <a:p>
            <a:pPr algn="l">
              <a:lnSpc>
                <a:spcPts val="3240"/>
              </a:lnSpc>
            </a:pPr>
            <a:r>
              <a:rPr lang="en-US" sz="2700" spc="-1">
                <a:solidFill>
                  <a:srgbClr val="0E2A2F"/>
                </a:solidFill>
                <a:latin typeface="Calibri (MS)"/>
                <a:ea typeface="Calibri (MS)"/>
                <a:cs typeface="Calibri (MS)"/>
                <a:sym typeface="Calibri (MS)"/>
              </a:rPr>
              <a:t>people face difficulty in drying clothes outdoor during rainy and humid weather conditions as many rely on conventional method of drying that is on sunlight</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6241048" y="7354270"/>
            <a:ext cx="1800246" cy="1561833"/>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WHO IS AFFECTED?</a:t>
              </a:r>
            </a:p>
          </p:txBody>
        </p:sp>
      </p:grpSp>
      <p:grpSp>
        <p:nvGrpSpPr>
          <p:cNvPr name="Group 22" id="22"/>
          <p:cNvGrpSpPr/>
          <p:nvPr/>
        </p:nvGrpSpPr>
        <p:grpSpPr>
          <a:xfrm rot="0">
            <a:off x="678656"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57400"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876885" y="2113442"/>
            <a:ext cx="5664620" cy="952258"/>
            <a:chOff x="0" y="0"/>
            <a:chExt cx="7552827" cy="1269678"/>
          </a:xfrm>
        </p:grpSpPr>
        <p:sp>
          <p:nvSpPr>
            <p:cNvPr name="Freeform 36" id="36"/>
            <p:cNvSpPr/>
            <p:nvPr/>
          </p:nvSpPr>
          <p:spPr>
            <a:xfrm flipH="false" flipV="false" rot="0">
              <a:off x="0" y="0"/>
              <a:ext cx="7552831" cy="1269682"/>
            </a:xfrm>
            <a:custGeom>
              <a:avLst/>
              <a:gdLst/>
              <a:ahLst/>
              <a:cxnLst/>
              <a:rect r="r" b="b" t="t" l="l"/>
              <a:pathLst>
                <a:path h="1269682" w="7552831">
                  <a:moveTo>
                    <a:pt x="0" y="0"/>
                  </a:moveTo>
                  <a:lnTo>
                    <a:pt x="7552831" y="0"/>
                  </a:lnTo>
                  <a:lnTo>
                    <a:pt x="7552831" y="1269682"/>
                  </a:lnTo>
                  <a:lnTo>
                    <a:pt x="0" y="1269682"/>
                  </a:lnTo>
                  <a:close/>
                </a:path>
              </a:pathLst>
            </a:custGeom>
            <a:blipFill>
              <a:blip r:embed="rId3">
                <a:alphaModFix amt="0"/>
              </a:blip>
              <a:stretch>
                <a:fillRect l="0" t="-255095" r="-154231" b="-234257"/>
              </a:stretch>
            </a:blipFill>
          </p:spPr>
        </p:sp>
        <p:sp>
          <p:nvSpPr>
            <p:cNvPr name="TextBox 37" id="37"/>
            <p:cNvSpPr txBox="true"/>
            <p:nvPr/>
          </p:nvSpPr>
          <p:spPr>
            <a:xfrm>
              <a:off x="0" y="-57150"/>
              <a:ext cx="7552827" cy="1326828"/>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Target users, stakeholders, beneficiaries</a:t>
              </a:r>
            </a:p>
          </p:txBody>
        </p:sp>
      </p:grpSp>
      <p:sp>
        <p:nvSpPr>
          <p:cNvPr name="TextBox 38" id="38"/>
          <p:cNvSpPr txBox="true"/>
          <p:nvPr/>
        </p:nvSpPr>
        <p:spPr>
          <a:xfrm rot="0">
            <a:off x="1165589" y="3489417"/>
            <a:ext cx="15706678" cy="4433345"/>
          </a:xfrm>
          <a:prstGeom prst="rect">
            <a:avLst/>
          </a:prstGeom>
        </p:spPr>
        <p:txBody>
          <a:bodyPr anchor="t" rtlCol="false" tIns="0" lIns="0" bIns="0" rIns="0">
            <a:spAutoFit/>
          </a:bodyPr>
          <a:lstStyle/>
          <a:p>
            <a:pPr algn="l" marL="560599" indent="-280299" lvl="1">
              <a:lnSpc>
                <a:spcPts val="3717"/>
              </a:lnSpc>
              <a:buFont typeface="Arial"/>
              <a:buChar char="•"/>
            </a:pPr>
            <a:r>
              <a:rPr lang="en-US" b="true" sz="3097" spc="-2">
                <a:solidFill>
                  <a:srgbClr val="0070AD"/>
                </a:solidFill>
                <a:latin typeface="Aptos Bold"/>
                <a:ea typeface="Aptos Bold"/>
                <a:cs typeface="Aptos Bold"/>
                <a:sym typeface="Aptos Bold"/>
              </a:rPr>
              <a:t>PRIMARY USERS</a:t>
            </a:r>
          </a:p>
          <a:p>
            <a:pPr algn="l" marL="452791" indent="-226396" lvl="1">
              <a:lnSpc>
                <a:spcPts val="3002"/>
              </a:lnSpc>
            </a:pPr>
            <a:r>
              <a:rPr lang="en-US" sz="2501" spc="-2">
                <a:solidFill>
                  <a:srgbClr val="2D3741"/>
                </a:solidFill>
                <a:latin typeface="Aptos"/>
                <a:ea typeface="Aptos"/>
                <a:cs typeface="Aptos"/>
                <a:sym typeface="Aptos"/>
              </a:rPr>
              <a:t>•  Hostel students and working professionals who need uniforms or daily wear ready despite rain.</a:t>
            </a:r>
          </a:p>
          <a:p>
            <a:pPr algn="l" marL="452791" indent="-226396" lvl="1">
              <a:lnSpc>
                <a:spcPts val="3002"/>
              </a:lnSpc>
            </a:pPr>
            <a:r>
              <a:rPr lang="en-US" sz="2501" spc="-2">
                <a:solidFill>
                  <a:srgbClr val="2D3741"/>
                </a:solidFill>
                <a:latin typeface="Aptos"/>
                <a:ea typeface="Aptos"/>
                <a:cs typeface="Aptos"/>
                <a:sym typeface="Aptos"/>
              </a:rPr>
              <a:t>•  Apartment residents and small households with limited balcony, terrace or indoor drying space.</a:t>
            </a:r>
          </a:p>
          <a:p>
            <a:pPr algn="l" marL="452791" indent="-226396" lvl="1">
              <a:lnSpc>
                <a:spcPts val="3002"/>
              </a:lnSpc>
            </a:pPr>
            <a:r>
              <a:rPr lang="en-US" sz="2501" spc="-2">
                <a:solidFill>
                  <a:srgbClr val="2D3741"/>
                </a:solidFill>
                <a:latin typeface="Aptos"/>
                <a:ea typeface="Aptos"/>
                <a:cs typeface="Aptos"/>
                <a:sym typeface="Aptos"/>
              </a:rPr>
              <a:t>•  Families drying frequent laundry loads where outdoor drying is unreliable.</a:t>
            </a:r>
          </a:p>
          <a:p>
            <a:pPr algn="l" marL="560599" indent="-280299" lvl="1">
              <a:lnSpc>
                <a:spcPts val="3717"/>
              </a:lnSpc>
            </a:pPr>
            <a:r>
              <a:rPr lang="en-US" b="true" sz="3097" spc="-2">
                <a:solidFill>
                  <a:srgbClr val="0070AD"/>
                </a:solidFill>
                <a:latin typeface="Aptos Bold"/>
                <a:ea typeface="Aptos Bold"/>
                <a:cs typeface="Aptos Bold"/>
                <a:sym typeface="Aptos Bold"/>
              </a:rPr>
              <a:t>SECONDARY STAKEHOLDERS</a:t>
            </a:r>
          </a:p>
          <a:p>
            <a:pPr algn="l" marL="452791" indent="-226396" lvl="1">
              <a:lnSpc>
                <a:spcPts val="3002"/>
              </a:lnSpc>
            </a:pPr>
            <a:r>
              <a:rPr lang="en-US" sz="2501" spc="-2">
                <a:solidFill>
                  <a:srgbClr val="2D3741"/>
                </a:solidFill>
                <a:latin typeface="Aptos"/>
                <a:ea typeface="Aptos"/>
                <a:cs typeface="Aptos"/>
                <a:sym typeface="Aptos"/>
              </a:rPr>
              <a:t>•  Hostel / apartment facility managers; landlords; appliance retailers and repair technicians.</a:t>
            </a:r>
          </a:p>
          <a:p>
            <a:pPr algn="l" marL="452791" indent="-226396" lvl="1">
              <a:lnSpc>
                <a:spcPts val="3002"/>
              </a:lnSpc>
            </a:pPr>
            <a:r>
              <a:rPr lang="en-US" sz="2501" spc="-2">
                <a:solidFill>
                  <a:srgbClr val="2D3741"/>
                </a:solidFill>
                <a:latin typeface="Aptos"/>
                <a:ea typeface="Aptos"/>
                <a:cs typeface="Aptos"/>
                <a:sym typeface="Aptos"/>
              </a:rPr>
              <a:t>•  Manufacturers and suppliers of dehumidifiers, blowers, sensors, electrical protection and foldable frames.</a:t>
            </a:r>
          </a:p>
          <a:p>
            <a:pPr algn="l" marL="560599" indent="-280299" lvl="1">
              <a:lnSpc>
                <a:spcPts val="3717"/>
              </a:lnSpc>
            </a:pPr>
            <a:r>
              <a:rPr lang="en-US" b="true" sz="3097" spc="-2">
                <a:solidFill>
                  <a:srgbClr val="0070AD"/>
                </a:solidFill>
                <a:latin typeface="Aptos Bold"/>
                <a:ea typeface="Aptos Bold"/>
                <a:cs typeface="Aptos Bold"/>
                <a:sym typeface="Aptos Bold"/>
              </a:rPr>
              <a:t>WHO BENEFITS &amp; WHY</a:t>
            </a:r>
          </a:p>
          <a:p>
            <a:pPr algn="l" marL="452791" indent="-226396" lvl="1">
              <a:lnSpc>
                <a:spcPts val="3002"/>
              </a:lnSpc>
            </a:pPr>
            <a:r>
              <a:rPr lang="en-US" sz="2501" spc="-2">
                <a:solidFill>
                  <a:srgbClr val="2D3741"/>
                </a:solidFill>
                <a:latin typeface="Aptos"/>
                <a:ea typeface="Aptos"/>
                <a:cs typeface="Aptos"/>
                <a:sym typeface="Aptos"/>
              </a:rPr>
              <a:t>•  Users gain a dedicated indoor drying space that folds away when not needed.</a:t>
            </a:r>
          </a:p>
          <a:p>
            <a:pPr algn="l" marL="452791" indent="-226396" lvl="1">
              <a:lnSpc>
                <a:spcPts val="3002"/>
              </a:lnSpc>
            </a:pPr>
            <a:r>
              <a:rPr lang="en-US" sz="2501" spc="-2">
                <a:solidFill>
                  <a:srgbClr val="2D3741"/>
                </a:solidFill>
                <a:latin typeface="Aptos"/>
                <a:ea typeface="Aptos"/>
                <a:cs typeface="Aptos"/>
                <a:sym typeface="Aptos"/>
              </a:rPr>
              <a:t>•  Caregivers and facility managers benefit from reduced floor clutter and a defined route for dripping water.</a:t>
            </a:r>
          </a:p>
          <a:p>
            <a:pPr algn="l" marL="452791" indent="-226396" lvl="1">
              <a:lnSpc>
                <a:spcPts val="3002"/>
              </a:lnSpc>
            </a:pPr>
            <a:r>
              <a:rPr lang="en-US" sz="2501" spc="-2">
                <a:solidFill>
                  <a:srgbClr val="2D3741"/>
                </a:solidFill>
                <a:latin typeface="Aptos"/>
                <a:ea typeface="Aptos"/>
                <a:cs typeface="Aptos"/>
                <a:sym typeface="Aptos"/>
              </a:rPr>
              <a:t>•  Design priority: affordability, safe operation, simple maintenance and fabric-appropriate drying.</a:t>
            </a:r>
          </a:p>
        </p:txBody>
      </p:sp>
      <p:grpSp>
        <p:nvGrpSpPr>
          <p:cNvPr name="Group 39" id="39"/>
          <p:cNvGrpSpPr/>
          <p:nvPr/>
        </p:nvGrpSpPr>
        <p:grpSpPr>
          <a:xfrm rot="0">
            <a:off x="16888501" y="9614697"/>
            <a:ext cx="685257" cy="593460"/>
            <a:chOff x="0" y="0"/>
            <a:chExt cx="913676" cy="791280"/>
          </a:xfrm>
        </p:grpSpPr>
        <p:sp>
          <p:nvSpPr>
            <p:cNvPr name="Freeform 40" id="40"/>
            <p:cNvSpPr/>
            <p:nvPr/>
          </p:nvSpPr>
          <p:spPr>
            <a:xfrm flipH="false" flipV="false" rot="0">
              <a:off x="0" y="0"/>
              <a:ext cx="913680" cy="791274"/>
            </a:xfrm>
            <a:custGeom>
              <a:avLst/>
              <a:gdLst/>
              <a:ahLst/>
              <a:cxnLst/>
              <a:rect r="r" b="b" t="t" l="l"/>
              <a:pathLst>
                <a:path h="791274" w="913680">
                  <a:moveTo>
                    <a:pt x="0" y="0"/>
                  </a:moveTo>
                  <a:lnTo>
                    <a:pt x="913680" y="0"/>
                  </a:lnTo>
                  <a:lnTo>
                    <a:pt x="913680" y="791274"/>
                  </a:lnTo>
                  <a:lnTo>
                    <a:pt x="0" y="791274"/>
                  </a:lnTo>
                  <a:close/>
                </a:path>
              </a:pathLst>
            </a:custGeom>
            <a:blipFill>
              <a:blip r:embed="rId3">
                <a:alphaModFix amt="0"/>
              </a:blip>
              <a:stretch>
                <a:fillRect l="-61116" t="0" r="-61116" b="-1"/>
              </a:stretch>
            </a:blipFill>
          </p:spPr>
        </p:sp>
        <p:sp>
          <p:nvSpPr>
            <p:cNvPr name="TextBox 41" id="41"/>
            <p:cNvSpPr txBox="true"/>
            <p:nvPr/>
          </p:nvSpPr>
          <p:spPr>
            <a:xfrm>
              <a:off x="0" y="-28575"/>
              <a:ext cx="913676" cy="819855"/>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3</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5904054" y="7017277"/>
            <a:ext cx="2161137" cy="1874930"/>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CURRENT SITUATION &amp; CONTEXT</a:t>
              </a:r>
            </a:p>
          </p:txBody>
        </p:sp>
      </p:grpSp>
      <p:grpSp>
        <p:nvGrpSpPr>
          <p:cNvPr name="Group 22" id="22"/>
          <p:cNvGrpSpPr/>
          <p:nvPr/>
        </p:nvGrpSpPr>
        <p:grpSpPr>
          <a:xfrm rot="0">
            <a:off x="678656"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70364"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755543" y="2026769"/>
            <a:ext cx="6947380" cy="952258"/>
            <a:chOff x="0" y="0"/>
            <a:chExt cx="9263174" cy="1269678"/>
          </a:xfrm>
        </p:grpSpPr>
        <p:sp>
          <p:nvSpPr>
            <p:cNvPr name="Freeform 36" id="36"/>
            <p:cNvSpPr/>
            <p:nvPr/>
          </p:nvSpPr>
          <p:spPr>
            <a:xfrm flipH="false" flipV="false" rot="0">
              <a:off x="0" y="0"/>
              <a:ext cx="9263178" cy="1269682"/>
            </a:xfrm>
            <a:custGeom>
              <a:avLst/>
              <a:gdLst/>
              <a:ahLst/>
              <a:cxnLst/>
              <a:rect r="r" b="b" t="t" l="l"/>
              <a:pathLst>
                <a:path h="1269682" w="9263178">
                  <a:moveTo>
                    <a:pt x="0" y="0"/>
                  </a:moveTo>
                  <a:lnTo>
                    <a:pt x="9263178" y="0"/>
                  </a:lnTo>
                  <a:lnTo>
                    <a:pt x="9263178" y="1269682"/>
                  </a:lnTo>
                  <a:lnTo>
                    <a:pt x="0" y="1269682"/>
                  </a:lnTo>
                  <a:close/>
                </a:path>
              </a:pathLst>
            </a:custGeom>
            <a:blipFill>
              <a:blip r:embed="rId3">
                <a:alphaModFix amt="0"/>
              </a:blip>
              <a:stretch>
                <a:fillRect l="0" t="-255095" r="-107290" b="-234257"/>
              </a:stretch>
            </a:blipFill>
          </p:spPr>
        </p:sp>
        <p:sp>
          <p:nvSpPr>
            <p:cNvPr name="TextBox 37" id="37"/>
            <p:cNvSpPr txBox="true"/>
            <p:nvPr/>
          </p:nvSpPr>
          <p:spPr>
            <a:xfrm>
              <a:off x="0" y="-57150"/>
              <a:ext cx="9263174" cy="1326828"/>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Existing scenario, background and how things work today</a:t>
              </a:r>
            </a:p>
          </p:txBody>
        </p:sp>
      </p:grpSp>
      <p:sp>
        <p:nvSpPr>
          <p:cNvPr name="TextBox 38" id="38"/>
          <p:cNvSpPr txBox="true"/>
          <p:nvPr/>
        </p:nvSpPr>
        <p:spPr>
          <a:xfrm rot="0">
            <a:off x="1480103" y="3381321"/>
            <a:ext cx="14116676" cy="4884669"/>
          </a:xfrm>
          <a:prstGeom prst="rect">
            <a:avLst/>
          </a:prstGeom>
        </p:spPr>
        <p:txBody>
          <a:bodyPr anchor="t" rtlCol="false" tIns="0" lIns="0" bIns="0" rIns="0">
            <a:spAutoFit/>
          </a:bodyPr>
          <a:lstStyle/>
          <a:p>
            <a:pPr algn="l" marL="460501" indent="-230251" lvl="1">
              <a:lnSpc>
                <a:spcPts val="3053"/>
              </a:lnSpc>
              <a:buFont typeface="Arial"/>
              <a:buChar char="•"/>
            </a:pPr>
            <a:r>
              <a:rPr lang="en-US" b="true" sz="2544" spc="-1">
                <a:solidFill>
                  <a:srgbClr val="0070AD"/>
                </a:solidFill>
                <a:latin typeface="Aptos Bold"/>
                <a:ea typeface="Aptos Bold"/>
                <a:cs typeface="Aptos Bold"/>
                <a:sym typeface="Aptos Bold"/>
              </a:rPr>
              <a:t>EXISTING SCENARIO</a:t>
            </a:r>
          </a:p>
          <a:p>
            <a:pPr algn="l" marL="371943" indent="-185972" lvl="1">
              <a:lnSpc>
                <a:spcPts val="2466"/>
              </a:lnSpc>
            </a:pPr>
            <a:r>
              <a:rPr lang="en-US" sz="2055" spc="-1">
                <a:solidFill>
                  <a:srgbClr val="2D3741"/>
                </a:solidFill>
                <a:latin typeface="Aptos"/>
                <a:ea typeface="Aptos"/>
                <a:cs typeface="Aptos"/>
                <a:sym typeface="Aptos"/>
              </a:rPr>
              <a:t>•  Typical workflow: wash → spin/wring → hang on a balcony, terrace or indoor rack → wait for suitable weather and airflow.</a:t>
            </a:r>
          </a:p>
          <a:p>
            <a:pPr algn="l" marL="371943" indent="-185972" lvl="1">
              <a:lnSpc>
                <a:spcPts val="2466"/>
              </a:lnSpc>
            </a:pPr>
            <a:r>
              <a:rPr lang="en-US" sz="2055" spc="-1">
                <a:solidFill>
                  <a:srgbClr val="2D3741"/>
                </a:solidFill>
                <a:latin typeface="Aptos"/>
                <a:ea typeface="Aptos"/>
                <a:cs typeface="Aptos"/>
                <a:sym typeface="Aptos"/>
              </a:rPr>
              <a:t>•  Rain and high relative humidity reduce the moisture gradient between wet fabric and surrounding air, slowing evaporation.</a:t>
            </a:r>
          </a:p>
          <a:p>
            <a:pPr algn="l" marL="371943" indent="-185972" lvl="1">
              <a:lnSpc>
                <a:spcPts val="2466"/>
              </a:lnSpc>
            </a:pPr>
            <a:r>
              <a:rPr lang="en-US" sz="2055" spc="-1">
                <a:solidFill>
                  <a:srgbClr val="2D3741"/>
                </a:solidFill>
                <a:latin typeface="Aptos"/>
                <a:ea typeface="Aptos"/>
                <a:cs typeface="Aptos"/>
                <a:sym typeface="Aptos"/>
              </a:rPr>
              <a:t>•  Indoor racks use space for hours; dripping garments may wet floors, and damp fabric can develop musty odours.</a:t>
            </a:r>
          </a:p>
          <a:p>
            <a:pPr algn="l" marL="460501" indent="-230251" lvl="1">
              <a:lnSpc>
                <a:spcPts val="3053"/>
              </a:lnSpc>
            </a:pPr>
            <a:r>
              <a:rPr lang="en-US" b="true" sz="2544" spc="-1">
                <a:solidFill>
                  <a:srgbClr val="0070AD"/>
                </a:solidFill>
                <a:latin typeface="Aptos Bold"/>
                <a:ea typeface="Aptos Bold"/>
                <a:cs typeface="Aptos Bold"/>
                <a:sym typeface="Aptos Bold"/>
              </a:rPr>
              <a:t>WHAT USERS CURRENTLY CONTROL</a:t>
            </a:r>
          </a:p>
          <a:p>
            <a:pPr algn="l" marL="371943" indent="-185972" lvl="1">
              <a:lnSpc>
                <a:spcPts val="2466"/>
              </a:lnSpc>
            </a:pPr>
            <a:r>
              <a:rPr lang="en-US" sz="2055" spc="-1">
                <a:solidFill>
                  <a:srgbClr val="2D3741"/>
                </a:solidFill>
                <a:latin typeface="Aptos"/>
                <a:ea typeface="Aptos"/>
                <a:cs typeface="Aptos"/>
                <a:sym typeface="Aptos"/>
              </a:rPr>
              <a:t>•  Users choose where to hang clothes and when to move them; most racks do not actively control humidity or drying time.</a:t>
            </a:r>
          </a:p>
          <a:p>
            <a:pPr algn="l" marL="371943" indent="-185972" lvl="1">
              <a:lnSpc>
                <a:spcPts val="2466"/>
              </a:lnSpc>
            </a:pPr>
            <a:r>
              <a:rPr lang="en-US" sz="2055" spc="-1">
                <a:solidFill>
                  <a:srgbClr val="2D3741"/>
                </a:solidFill>
                <a:latin typeface="Aptos"/>
                <a:ea typeface="Aptos"/>
                <a:cs typeface="Aptos"/>
                <a:sym typeface="Aptos"/>
              </a:rPr>
              <a:t>•  Fans increase air movement but do not remove water vapour from the room by themselves.</a:t>
            </a:r>
          </a:p>
          <a:p>
            <a:pPr algn="l" marL="371943" indent="-185972" lvl="1">
              <a:lnSpc>
                <a:spcPts val="2466"/>
              </a:lnSpc>
            </a:pPr>
            <a:r>
              <a:rPr lang="en-US" sz="2055" spc="-1">
                <a:solidFill>
                  <a:srgbClr val="2D3741"/>
                </a:solidFill>
                <a:latin typeface="Aptos"/>
                <a:ea typeface="Aptos"/>
                <a:cs typeface="Aptos"/>
                <a:sym typeface="Aptos"/>
              </a:rPr>
              <a:t>•  Standalone dehumidifiers remove moisture from air, but are not always integrated with garment support, airflow direction and drip management.</a:t>
            </a:r>
          </a:p>
          <a:p>
            <a:pPr algn="l" marL="460501" indent="-230251" lvl="1">
              <a:lnSpc>
                <a:spcPts val="3053"/>
              </a:lnSpc>
            </a:pPr>
            <a:r>
              <a:rPr lang="en-US" b="true" sz="2544" spc="-1">
                <a:solidFill>
                  <a:srgbClr val="0070AD"/>
                </a:solidFill>
                <a:latin typeface="Aptos Bold"/>
                <a:ea typeface="Aptos Bold"/>
                <a:cs typeface="Aptos Bold"/>
                <a:sym typeface="Aptos Bold"/>
              </a:rPr>
              <a:t>EVIDENCE STATUS</a:t>
            </a:r>
          </a:p>
          <a:p>
            <a:pPr algn="l" marL="371943" indent="-185972" lvl="1">
              <a:lnSpc>
                <a:spcPts val="2466"/>
              </a:lnSpc>
            </a:pPr>
            <a:r>
              <a:rPr lang="en-US" sz="2055" spc="-1">
                <a:solidFill>
                  <a:srgbClr val="2D3741"/>
                </a:solidFill>
                <a:latin typeface="Aptos"/>
                <a:ea typeface="Aptos"/>
                <a:cs typeface="Aptos"/>
                <a:sym typeface="Aptos"/>
              </a:rPr>
              <a:t>•  The attached concept brief identifies rainy-season drying difficulty, space constraints, dampness and water management as the need.</a:t>
            </a:r>
          </a:p>
          <a:p>
            <a:pPr algn="l" marL="371943" indent="-185972" lvl="1">
              <a:lnSpc>
                <a:spcPts val="2466"/>
              </a:lnSpc>
            </a:pPr>
            <a:r>
              <a:rPr lang="en-US" sz="2055" spc="-1">
                <a:solidFill>
                  <a:srgbClr val="2D3741"/>
                </a:solidFill>
                <a:latin typeface="Aptos"/>
                <a:ea typeface="Aptos"/>
                <a:cs typeface="Aptos"/>
                <a:sym typeface="Aptos"/>
              </a:rPr>
              <a:t>•  No validated user-survey sample, drying-time dataset or energy test result is supplied; do not present estimates as measured facts.</a:t>
            </a:r>
          </a:p>
        </p:txBody>
      </p:sp>
      <p:grpSp>
        <p:nvGrpSpPr>
          <p:cNvPr name="Group 39" id="39"/>
          <p:cNvGrpSpPr/>
          <p:nvPr/>
        </p:nvGrpSpPr>
        <p:grpSpPr>
          <a:xfrm rot="0">
            <a:off x="16888501" y="9614697"/>
            <a:ext cx="685257" cy="593460"/>
            <a:chOff x="0" y="0"/>
            <a:chExt cx="913676" cy="791280"/>
          </a:xfrm>
        </p:grpSpPr>
        <p:sp>
          <p:nvSpPr>
            <p:cNvPr name="Freeform 40" id="40"/>
            <p:cNvSpPr/>
            <p:nvPr/>
          </p:nvSpPr>
          <p:spPr>
            <a:xfrm flipH="false" flipV="false" rot="0">
              <a:off x="0" y="0"/>
              <a:ext cx="913680" cy="791274"/>
            </a:xfrm>
            <a:custGeom>
              <a:avLst/>
              <a:gdLst/>
              <a:ahLst/>
              <a:cxnLst/>
              <a:rect r="r" b="b" t="t" l="l"/>
              <a:pathLst>
                <a:path h="791274" w="913680">
                  <a:moveTo>
                    <a:pt x="0" y="0"/>
                  </a:moveTo>
                  <a:lnTo>
                    <a:pt x="913680" y="0"/>
                  </a:lnTo>
                  <a:lnTo>
                    <a:pt x="913680" y="791274"/>
                  </a:lnTo>
                  <a:lnTo>
                    <a:pt x="0" y="791274"/>
                  </a:lnTo>
                  <a:close/>
                </a:path>
              </a:pathLst>
            </a:custGeom>
            <a:blipFill>
              <a:blip r:embed="rId3">
                <a:alphaModFix amt="0"/>
              </a:blip>
              <a:stretch>
                <a:fillRect l="-61116" t="0" r="-61116" b="-1"/>
              </a:stretch>
            </a:blipFill>
          </p:spPr>
        </p:sp>
        <p:sp>
          <p:nvSpPr>
            <p:cNvPr name="TextBox 41" id="41"/>
            <p:cNvSpPr txBox="true"/>
            <p:nvPr/>
          </p:nvSpPr>
          <p:spPr>
            <a:xfrm>
              <a:off x="0" y="-28575"/>
              <a:ext cx="913676" cy="819855"/>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4</a:t>
              </a: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5904054" y="7017277"/>
            <a:ext cx="2161137" cy="1874930"/>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KEY CHALLENGES</a:t>
              </a:r>
            </a:p>
          </p:txBody>
        </p:sp>
      </p:grpSp>
      <p:grpSp>
        <p:nvGrpSpPr>
          <p:cNvPr name="Group 22" id="22"/>
          <p:cNvGrpSpPr/>
          <p:nvPr/>
        </p:nvGrpSpPr>
        <p:grpSpPr>
          <a:xfrm rot="0">
            <a:off x="678656"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57400"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714500" y="2095351"/>
            <a:ext cx="7120726" cy="952258"/>
            <a:chOff x="0" y="0"/>
            <a:chExt cx="9494302" cy="1269678"/>
          </a:xfrm>
        </p:grpSpPr>
        <p:sp>
          <p:nvSpPr>
            <p:cNvPr name="Freeform 36" id="36"/>
            <p:cNvSpPr/>
            <p:nvPr/>
          </p:nvSpPr>
          <p:spPr>
            <a:xfrm flipH="false" flipV="false" rot="0">
              <a:off x="0" y="0"/>
              <a:ext cx="9494307" cy="1269682"/>
            </a:xfrm>
            <a:custGeom>
              <a:avLst/>
              <a:gdLst/>
              <a:ahLst/>
              <a:cxnLst/>
              <a:rect r="r" b="b" t="t" l="l"/>
              <a:pathLst>
                <a:path h="1269682" w="9494307">
                  <a:moveTo>
                    <a:pt x="0" y="0"/>
                  </a:moveTo>
                  <a:lnTo>
                    <a:pt x="9494307" y="0"/>
                  </a:lnTo>
                  <a:lnTo>
                    <a:pt x="9494307" y="1269682"/>
                  </a:lnTo>
                  <a:lnTo>
                    <a:pt x="0" y="1269682"/>
                  </a:lnTo>
                  <a:close/>
                </a:path>
              </a:pathLst>
            </a:custGeom>
            <a:blipFill>
              <a:blip r:embed="rId3">
                <a:alphaModFix amt="0"/>
              </a:blip>
              <a:stretch>
                <a:fillRect l="0" t="-255095" r="-102244" b="-234257"/>
              </a:stretch>
            </a:blipFill>
          </p:spPr>
        </p:sp>
        <p:sp>
          <p:nvSpPr>
            <p:cNvPr name="TextBox 37" id="37"/>
            <p:cNvSpPr txBox="true"/>
            <p:nvPr/>
          </p:nvSpPr>
          <p:spPr>
            <a:xfrm>
              <a:off x="0" y="-57150"/>
              <a:ext cx="9494302" cy="1326828"/>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Main difficulties, bottlenecks, root causes and consequences</a:t>
              </a:r>
            </a:p>
          </p:txBody>
        </p:sp>
      </p:grpSp>
      <p:sp>
        <p:nvSpPr>
          <p:cNvPr name="TextBox 38" id="38"/>
          <p:cNvSpPr txBox="true"/>
          <p:nvPr/>
        </p:nvSpPr>
        <p:spPr>
          <a:xfrm rot="0">
            <a:off x="1206903" y="3365592"/>
            <a:ext cx="14859728" cy="4903935"/>
          </a:xfrm>
          <a:prstGeom prst="rect">
            <a:avLst/>
          </a:prstGeom>
        </p:spPr>
        <p:txBody>
          <a:bodyPr anchor="t" rtlCol="false" tIns="0" lIns="0" bIns="0" rIns="0">
            <a:spAutoFit/>
          </a:bodyPr>
          <a:lstStyle/>
          <a:p>
            <a:pPr algn="l" marL="463216" indent="-231608" lvl="1">
              <a:lnSpc>
                <a:spcPts val="3071"/>
              </a:lnSpc>
              <a:buFont typeface="Arial"/>
              <a:buChar char="•"/>
            </a:pPr>
            <a:r>
              <a:rPr lang="en-US" b="true" sz="2559" spc="-1">
                <a:solidFill>
                  <a:srgbClr val="0070AD"/>
                </a:solidFill>
                <a:latin typeface="Aptos Bold"/>
                <a:ea typeface="Aptos Bold"/>
                <a:cs typeface="Aptos Bold"/>
                <a:sym typeface="Aptos Bold"/>
              </a:rPr>
              <a:t>MAIN CHALLENGES</a:t>
            </a:r>
          </a:p>
          <a:p>
            <a:pPr algn="l" marL="374136" indent="-187068" lvl="1">
              <a:lnSpc>
                <a:spcPts val="2480"/>
              </a:lnSpc>
            </a:pPr>
            <a:r>
              <a:rPr lang="en-US" sz="2067" spc="-1">
                <a:solidFill>
                  <a:srgbClr val="2D3741"/>
                </a:solidFill>
                <a:latin typeface="Aptos"/>
                <a:ea typeface="Aptos"/>
                <a:cs typeface="Aptos"/>
                <a:sym typeface="Aptos"/>
              </a:rPr>
              <a:t>•  Slow / inconsistent drying: performance changes with room humidity, temperature, garment thickness and spacing.</a:t>
            </a:r>
          </a:p>
          <a:p>
            <a:pPr algn="l" marL="374136" indent="-187068" lvl="1">
              <a:lnSpc>
                <a:spcPts val="2480"/>
              </a:lnSpc>
            </a:pPr>
            <a:r>
              <a:rPr lang="en-US" sz="2067" spc="-1">
                <a:solidFill>
                  <a:srgbClr val="2D3741"/>
                </a:solidFill>
                <a:latin typeface="Aptos"/>
                <a:ea typeface="Aptos"/>
                <a:cs typeface="Aptos"/>
                <a:sym typeface="Aptos"/>
              </a:rPr>
              <a:t>•  Space: a rack occupies floor area during long drying cycles and may obstruct narrow rooms.</a:t>
            </a:r>
          </a:p>
          <a:p>
            <a:pPr algn="l" marL="374136" indent="-187068" lvl="1">
              <a:lnSpc>
                <a:spcPts val="2480"/>
              </a:lnSpc>
            </a:pPr>
            <a:r>
              <a:rPr lang="en-US" sz="2067" spc="-1">
                <a:solidFill>
                  <a:srgbClr val="2D3741"/>
                </a:solidFill>
                <a:latin typeface="Aptos"/>
                <a:ea typeface="Aptos"/>
                <a:cs typeface="Aptos"/>
                <a:sym typeface="Aptos"/>
              </a:rPr>
              <a:t>•  Water management: freshly washed clothes can drip onto flooring or nearby electrical items.</a:t>
            </a:r>
          </a:p>
          <a:p>
            <a:pPr algn="l" marL="374136" indent="-187068" lvl="1">
              <a:lnSpc>
                <a:spcPts val="2480"/>
              </a:lnSpc>
            </a:pPr>
            <a:r>
              <a:rPr lang="en-US" sz="2067" spc="-1">
                <a:solidFill>
                  <a:srgbClr val="2D3741"/>
                </a:solidFill>
                <a:latin typeface="Aptos"/>
                <a:ea typeface="Aptos"/>
                <a:cs typeface="Aptos"/>
                <a:sym typeface="Aptos"/>
              </a:rPr>
              <a:t>•  Different fabrics: thick cotton, synthetics and delicate garments should not automatically receive the same heat or airflow.</a:t>
            </a:r>
          </a:p>
          <a:p>
            <a:pPr algn="l" marL="374136" indent="-187068" lvl="1">
              <a:lnSpc>
                <a:spcPts val="2480"/>
              </a:lnSpc>
            </a:pPr>
            <a:r>
              <a:rPr lang="en-US" sz="2067" spc="-1">
                <a:solidFill>
                  <a:srgbClr val="2D3741"/>
                </a:solidFill>
                <a:latin typeface="Aptos"/>
                <a:ea typeface="Aptos"/>
                <a:cs typeface="Aptos"/>
                <a:sym typeface="Aptos"/>
              </a:rPr>
              <a:t>•  Energy and attention: long operation without a clear end condition can waste power or require repeated checking.</a:t>
            </a:r>
          </a:p>
          <a:p>
            <a:pPr algn="l" marL="463216" indent="-231608" lvl="1">
              <a:lnSpc>
                <a:spcPts val="3071"/>
              </a:lnSpc>
            </a:pPr>
            <a:r>
              <a:rPr lang="en-US" b="true" sz="2559" spc="-1">
                <a:solidFill>
                  <a:srgbClr val="0070AD"/>
                </a:solidFill>
                <a:latin typeface="Aptos Bold"/>
                <a:ea typeface="Aptos Bold"/>
                <a:cs typeface="Aptos Bold"/>
                <a:sym typeface="Aptos Bold"/>
              </a:rPr>
              <a:t>ROOT CAUSES</a:t>
            </a:r>
          </a:p>
          <a:p>
            <a:pPr algn="l" marL="374136" indent="-187068" lvl="1">
              <a:lnSpc>
                <a:spcPts val="2480"/>
              </a:lnSpc>
            </a:pPr>
            <a:r>
              <a:rPr lang="en-US" sz="2067" spc="-1">
                <a:solidFill>
                  <a:srgbClr val="2D3741"/>
                </a:solidFill>
                <a:latin typeface="Aptos"/>
                <a:ea typeface="Aptos"/>
                <a:cs typeface="Aptos"/>
                <a:sym typeface="Aptos"/>
              </a:rPr>
              <a:t>•  Conventional racks depend on the room environment and passive evaporation.</a:t>
            </a:r>
          </a:p>
          <a:p>
            <a:pPr algn="l" marL="374136" indent="-187068" lvl="1">
              <a:lnSpc>
                <a:spcPts val="2480"/>
              </a:lnSpc>
            </a:pPr>
            <a:r>
              <a:rPr lang="en-US" sz="2067" spc="-1">
                <a:solidFill>
                  <a:srgbClr val="2D3741"/>
                </a:solidFill>
                <a:latin typeface="Aptos"/>
                <a:ea typeface="Aptos"/>
                <a:cs typeface="Aptos"/>
                <a:sym typeface="Aptos"/>
              </a:rPr>
              <a:t>•  Poorly spaced garments restrict airflow; enclosed or crowded rooms may retain moisture.</a:t>
            </a:r>
          </a:p>
          <a:p>
            <a:pPr algn="l" marL="374136" indent="-187068" lvl="1">
              <a:lnSpc>
                <a:spcPts val="2480"/>
              </a:lnSpc>
            </a:pPr>
            <a:r>
              <a:rPr lang="en-US" sz="2067" spc="-1">
                <a:solidFill>
                  <a:srgbClr val="2D3741"/>
                </a:solidFill>
                <a:latin typeface="Aptos"/>
                <a:ea typeface="Aptos"/>
                <a:cs typeface="Aptos"/>
                <a:sym typeface="Aptos"/>
              </a:rPr>
              <a:t>•  Separate devices create extra setup, footprint and user effort.</a:t>
            </a:r>
          </a:p>
          <a:p>
            <a:pPr algn="l" marL="374136" indent="-187068" lvl="1">
              <a:lnSpc>
                <a:spcPts val="2480"/>
              </a:lnSpc>
            </a:pPr>
            <a:r>
              <a:rPr lang="en-US" sz="2067" spc="-1">
                <a:solidFill>
                  <a:srgbClr val="2D3741"/>
                </a:solidFill>
                <a:latin typeface="Aptos"/>
                <a:ea typeface="Aptos"/>
                <a:cs typeface="Aptos"/>
                <a:sym typeface="Aptos"/>
              </a:rPr>
              <a:t>•  Unspecified controls and missing safeguards can make a powered prototype unsafe or difficult to use.</a:t>
            </a:r>
          </a:p>
          <a:p>
            <a:pPr algn="l" marL="463216" indent="-231608" lvl="1">
              <a:lnSpc>
                <a:spcPts val="3071"/>
              </a:lnSpc>
            </a:pPr>
            <a:r>
              <a:rPr lang="en-US" b="true" sz="2559" spc="-1">
                <a:solidFill>
                  <a:srgbClr val="0070AD"/>
                </a:solidFill>
                <a:latin typeface="Aptos Bold"/>
                <a:ea typeface="Aptos Bold"/>
                <a:cs typeface="Aptos Bold"/>
                <a:sym typeface="Aptos Bold"/>
              </a:rPr>
              <a:t>CONSEQUENCES IF UNSOLVED</a:t>
            </a:r>
          </a:p>
          <a:p>
            <a:pPr algn="l" marL="374136" indent="-187068" lvl="1">
              <a:lnSpc>
                <a:spcPts val="2480"/>
              </a:lnSpc>
            </a:pPr>
            <a:r>
              <a:rPr lang="en-US" sz="2067" spc="-1">
                <a:solidFill>
                  <a:srgbClr val="2D3741"/>
                </a:solidFill>
                <a:latin typeface="Aptos"/>
                <a:ea typeface="Aptos"/>
                <a:cs typeface="Aptos"/>
                <a:sym typeface="Aptos"/>
              </a:rPr>
              <a:t>•  Clothes take longer to become usable; users may need extra garments or repeated rearrangement.</a:t>
            </a:r>
          </a:p>
          <a:p>
            <a:pPr algn="l" marL="374136" indent="-187068" lvl="1">
              <a:lnSpc>
                <a:spcPts val="2480"/>
              </a:lnSpc>
            </a:pPr>
            <a:r>
              <a:rPr lang="en-US" sz="2067" spc="-1">
                <a:solidFill>
                  <a:srgbClr val="2D3741"/>
                </a:solidFill>
                <a:latin typeface="Aptos"/>
                <a:ea typeface="Aptos"/>
                <a:cs typeface="Aptos"/>
                <a:sym typeface="Aptos"/>
              </a:rPr>
              <a:t>•  Room clutter, damp odour and water mess reduce convenience.</a:t>
            </a:r>
          </a:p>
          <a:p>
            <a:pPr algn="l" marL="374136" indent="-187068" lvl="1">
              <a:lnSpc>
                <a:spcPts val="2480"/>
              </a:lnSpc>
            </a:pPr>
            <a:r>
              <a:rPr lang="en-US" sz="2067" spc="-1">
                <a:solidFill>
                  <a:srgbClr val="2D3741"/>
                </a:solidFill>
                <a:latin typeface="Aptos"/>
                <a:ea typeface="Aptos"/>
                <a:cs typeface="Aptos"/>
                <a:sym typeface="Aptos"/>
              </a:rPr>
              <a:t>•  Excessive heat or unsuitable airflow may affect some fabrics; electrical parts must be isolated from collected water.</a:t>
            </a:r>
          </a:p>
        </p:txBody>
      </p:sp>
      <p:grpSp>
        <p:nvGrpSpPr>
          <p:cNvPr name="Group 39" id="39"/>
          <p:cNvGrpSpPr/>
          <p:nvPr/>
        </p:nvGrpSpPr>
        <p:grpSpPr>
          <a:xfrm rot="0">
            <a:off x="16888501" y="9614697"/>
            <a:ext cx="685257" cy="593460"/>
            <a:chOff x="0" y="0"/>
            <a:chExt cx="913676" cy="791280"/>
          </a:xfrm>
        </p:grpSpPr>
        <p:sp>
          <p:nvSpPr>
            <p:cNvPr name="Freeform 40" id="40"/>
            <p:cNvSpPr/>
            <p:nvPr/>
          </p:nvSpPr>
          <p:spPr>
            <a:xfrm flipH="false" flipV="false" rot="0">
              <a:off x="0" y="0"/>
              <a:ext cx="913680" cy="791274"/>
            </a:xfrm>
            <a:custGeom>
              <a:avLst/>
              <a:gdLst/>
              <a:ahLst/>
              <a:cxnLst/>
              <a:rect r="r" b="b" t="t" l="l"/>
              <a:pathLst>
                <a:path h="791274" w="913680">
                  <a:moveTo>
                    <a:pt x="0" y="0"/>
                  </a:moveTo>
                  <a:lnTo>
                    <a:pt x="913680" y="0"/>
                  </a:lnTo>
                  <a:lnTo>
                    <a:pt x="913680" y="791274"/>
                  </a:lnTo>
                  <a:lnTo>
                    <a:pt x="0" y="791274"/>
                  </a:lnTo>
                  <a:close/>
                </a:path>
              </a:pathLst>
            </a:custGeom>
            <a:blipFill>
              <a:blip r:embed="rId3">
                <a:alphaModFix amt="0"/>
              </a:blip>
              <a:stretch>
                <a:fillRect l="-61116" t="0" r="-61116" b="-1"/>
              </a:stretch>
            </a:blipFill>
          </p:spPr>
        </p:sp>
        <p:sp>
          <p:nvSpPr>
            <p:cNvPr name="TextBox 41" id="41"/>
            <p:cNvSpPr txBox="true"/>
            <p:nvPr/>
          </p:nvSpPr>
          <p:spPr>
            <a:xfrm>
              <a:off x="0" y="-28575"/>
              <a:ext cx="913676" cy="819855"/>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5</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5904054" y="7017277"/>
            <a:ext cx="2161137" cy="1874930"/>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EXISTING SOLUTIONS / APPROACHES</a:t>
              </a:r>
            </a:p>
          </p:txBody>
        </p:sp>
      </p:grpSp>
      <p:grpSp>
        <p:nvGrpSpPr>
          <p:cNvPr name="Group 22" id="22"/>
          <p:cNvGrpSpPr/>
          <p:nvPr/>
        </p:nvGrpSpPr>
        <p:grpSpPr>
          <a:xfrm rot="0">
            <a:off x="678656"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57400"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958997" y="2095349"/>
            <a:ext cx="7068722" cy="952258"/>
            <a:chOff x="0" y="0"/>
            <a:chExt cx="9424963" cy="1269678"/>
          </a:xfrm>
        </p:grpSpPr>
        <p:sp>
          <p:nvSpPr>
            <p:cNvPr name="Freeform 36" id="36"/>
            <p:cNvSpPr/>
            <p:nvPr/>
          </p:nvSpPr>
          <p:spPr>
            <a:xfrm flipH="false" flipV="false" rot="0">
              <a:off x="0" y="0"/>
              <a:ext cx="9424968" cy="1269682"/>
            </a:xfrm>
            <a:custGeom>
              <a:avLst/>
              <a:gdLst/>
              <a:ahLst/>
              <a:cxnLst/>
              <a:rect r="r" b="b" t="t" l="l"/>
              <a:pathLst>
                <a:path h="1269682" w="9424968">
                  <a:moveTo>
                    <a:pt x="0" y="0"/>
                  </a:moveTo>
                  <a:lnTo>
                    <a:pt x="9424968" y="0"/>
                  </a:lnTo>
                  <a:lnTo>
                    <a:pt x="9424968" y="1269682"/>
                  </a:lnTo>
                  <a:lnTo>
                    <a:pt x="0" y="1269682"/>
                  </a:lnTo>
                  <a:close/>
                </a:path>
              </a:pathLst>
            </a:custGeom>
            <a:blipFill>
              <a:blip r:embed="rId3">
                <a:alphaModFix amt="0"/>
              </a:blip>
              <a:stretch>
                <a:fillRect l="0" t="-255095" r="-103732" b="-234257"/>
              </a:stretch>
            </a:blipFill>
          </p:spPr>
        </p:sp>
        <p:sp>
          <p:nvSpPr>
            <p:cNvPr name="TextBox 37" id="37"/>
            <p:cNvSpPr txBox="true"/>
            <p:nvPr/>
          </p:nvSpPr>
          <p:spPr>
            <a:xfrm>
              <a:off x="0" y="-57150"/>
              <a:ext cx="9424963" cy="1326828"/>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What is already being done, and where it falls short</a:t>
              </a:r>
            </a:p>
          </p:txBody>
        </p:sp>
      </p:grpSp>
      <p:sp>
        <p:nvSpPr>
          <p:cNvPr name="TextBox 38" id="38"/>
          <p:cNvSpPr txBox="true"/>
          <p:nvPr/>
        </p:nvSpPr>
        <p:spPr>
          <a:xfrm rot="0">
            <a:off x="1508217" y="3489417"/>
            <a:ext cx="14084871" cy="4581231"/>
          </a:xfrm>
          <a:prstGeom prst="rect">
            <a:avLst/>
          </a:prstGeom>
        </p:spPr>
        <p:txBody>
          <a:bodyPr anchor="t" rtlCol="false" tIns="0" lIns="0" bIns="0" rIns="0">
            <a:spAutoFit/>
          </a:bodyPr>
          <a:lstStyle/>
          <a:p>
            <a:pPr algn="l" marL="468880" indent="-234440" lvl="1">
              <a:lnSpc>
                <a:spcPts val="3109"/>
              </a:lnSpc>
              <a:buFont typeface="Arial"/>
              <a:buChar char="•"/>
            </a:pPr>
            <a:r>
              <a:rPr lang="en-US" b="true" sz="2590" spc="-1">
                <a:solidFill>
                  <a:srgbClr val="0070AD"/>
                </a:solidFill>
                <a:latin typeface="Aptos Bold"/>
                <a:ea typeface="Aptos Bold"/>
                <a:cs typeface="Aptos Bold"/>
                <a:sym typeface="Aptos Bold"/>
              </a:rPr>
              <a:t>EXISTING METHODS &amp; LIMITATIONS</a:t>
            </a:r>
          </a:p>
          <a:p>
            <a:pPr algn="l" marL="378711" indent="-189355" lvl="1">
              <a:lnSpc>
                <a:spcPts val="2511"/>
              </a:lnSpc>
            </a:pPr>
            <a:r>
              <a:rPr lang="en-US" sz="2092" spc="-1">
                <a:solidFill>
                  <a:srgbClr val="2D3741"/>
                </a:solidFill>
                <a:latin typeface="Aptos"/>
                <a:ea typeface="Aptos"/>
                <a:cs typeface="Aptos"/>
                <a:sym typeface="Aptos"/>
              </a:rPr>
              <a:t>•  Outdoor line / balcony: inexpensive, but rain, night-time and pollution exposure can interrupt drying.</a:t>
            </a:r>
          </a:p>
          <a:p>
            <a:pPr algn="l" marL="378711" indent="-189355" lvl="1">
              <a:lnSpc>
                <a:spcPts val="2511"/>
              </a:lnSpc>
            </a:pPr>
            <a:r>
              <a:rPr lang="en-US" sz="2092" spc="-1">
                <a:solidFill>
                  <a:srgbClr val="2D3741"/>
                </a:solidFill>
                <a:latin typeface="Aptos"/>
                <a:ea typeface="Aptos"/>
                <a:cs typeface="Aptos"/>
                <a:sym typeface="Aptos"/>
              </a:rPr>
              <a:t>•  Indoor folding rack: low-cost and foldable, but drying remains dependent on ambient humidity and ventilation.</a:t>
            </a:r>
          </a:p>
          <a:p>
            <a:pPr algn="l" marL="378711" indent="-189355" lvl="1">
              <a:lnSpc>
                <a:spcPts val="2511"/>
              </a:lnSpc>
            </a:pPr>
            <a:r>
              <a:rPr lang="en-US" sz="2092" spc="-1">
                <a:solidFill>
                  <a:srgbClr val="2D3741"/>
                </a:solidFill>
                <a:latin typeface="Aptos"/>
                <a:ea typeface="Aptos"/>
                <a:cs typeface="Aptos"/>
                <a:sym typeface="Aptos"/>
              </a:rPr>
              <a:t>•  Fan / air circulator: improves air movement; it does not actively extract moisture from room air.</a:t>
            </a:r>
          </a:p>
          <a:p>
            <a:pPr algn="l" marL="378711" indent="-189355" lvl="1">
              <a:lnSpc>
                <a:spcPts val="2511"/>
              </a:lnSpc>
            </a:pPr>
            <a:r>
              <a:rPr lang="en-US" sz="2092" spc="-1">
                <a:solidFill>
                  <a:srgbClr val="2D3741"/>
                </a:solidFill>
                <a:latin typeface="Aptos"/>
                <a:ea typeface="Aptos"/>
                <a:cs typeface="Aptos"/>
                <a:sym typeface="Aptos"/>
              </a:rPr>
              <a:t>•  Room dehumidifier beside a rack: reduces air moisture, but adds a separate footprint and may not direct airflow through garments.</a:t>
            </a:r>
          </a:p>
          <a:p>
            <a:pPr algn="l" marL="378711" indent="-189355" lvl="1">
              <a:lnSpc>
                <a:spcPts val="2511"/>
              </a:lnSpc>
            </a:pPr>
            <a:r>
              <a:rPr lang="en-US" sz="2092" spc="-1">
                <a:solidFill>
                  <a:srgbClr val="2D3741"/>
                </a:solidFill>
                <a:latin typeface="Aptos"/>
                <a:ea typeface="Aptos"/>
                <a:cs typeface="Aptos"/>
                <a:sym typeface="Aptos"/>
              </a:rPr>
              <a:t>•  Conventional heated / tumble dryer: can be faster, but may require more space, installation and energy; fabric compatibility varies.</a:t>
            </a:r>
          </a:p>
          <a:p>
            <a:pPr algn="l" marL="468880" indent="-234440" lvl="1">
              <a:lnSpc>
                <a:spcPts val="3109"/>
              </a:lnSpc>
            </a:pPr>
            <a:r>
              <a:rPr lang="en-US" b="true" sz="2590" spc="-1">
                <a:solidFill>
                  <a:srgbClr val="0070AD"/>
                </a:solidFill>
                <a:latin typeface="Aptos Bold"/>
                <a:ea typeface="Aptos Bold"/>
                <a:cs typeface="Aptos Bold"/>
                <a:sym typeface="Aptos Bold"/>
              </a:rPr>
              <a:t>THE OPEN GAP</a:t>
            </a:r>
          </a:p>
          <a:p>
            <a:pPr algn="l" marL="378711" indent="-189355" lvl="1">
              <a:lnSpc>
                <a:spcPts val="2511"/>
              </a:lnSpc>
            </a:pPr>
            <a:r>
              <a:rPr lang="en-US" sz="2092" spc="-1">
                <a:solidFill>
                  <a:srgbClr val="2D3741"/>
                </a:solidFill>
                <a:latin typeface="Aptos"/>
                <a:ea typeface="Aptos"/>
                <a:cs typeface="Aptos"/>
                <a:sym typeface="Aptos"/>
              </a:rPr>
              <a:t>•  Integrate fold-away garment support, dehumidification, directed airflow, timed control and a drip tray / collection tank.</a:t>
            </a:r>
          </a:p>
          <a:p>
            <a:pPr algn="l" marL="378711" indent="-189355" lvl="1">
              <a:lnSpc>
                <a:spcPts val="2511"/>
              </a:lnSpc>
            </a:pPr>
            <a:r>
              <a:rPr lang="en-US" sz="2092" spc="-1">
                <a:solidFill>
                  <a:srgbClr val="2D3741"/>
                </a:solidFill>
                <a:latin typeface="Aptos"/>
                <a:ea typeface="Aptos"/>
                <a:cs typeface="Aptos"/>
                <a:sym typeface="Aptos"/>
              </a:rPr>
              <a:t>•  Keep the concept modular so maintenance and water removal are straightforward.</a:t>
            </a:r>
          </a:p>
          <a:p>
            <a:pPr algn="l" marL="378711" indent="-189355" lvl="1">
              <a:lnSpc>
                <a:spcPts val="2511"/>
              </a:lnSpc>
            </a:pPr>
            <a:r>
              <a:rPr lang="en-US" sz="2092" spc="-1">
                <a:solidFill>
                  <a:srgbClr val="2D3741"/>
                </a:solidFill>
                <a:latin typeface="Aptos"/>
                <a:ea typeface="Aptos"/>
                <a:cs typeface="Aptos"/>
                <a:sym typeface="Aptos"/>
              </a:rPr>
              <a:t>•  Competitive distinction is integration and compactness—not a claimed speed or energy advantage until comparative testing proves it.</a:t>
            </a:r>
          </a:p>
        </p:txBody>
      </p:sp>
      <p:grpSp>
        <p:nvGrpSpPr>
          <p:cNvPr name="Group 39" id="39"/>
          <p:cNvGrpSpPr/>
          <p:nvPr/>
        </p:nvGrpSpPr>
        <p:grpSpPr>
          <a:xfrm rot="0">
            <a:off x="16888501" y="9614697"/>
            <a:ext cx="685257" cy="593460"/>
            <a:chOff x="0" y="0"/>
            <a:chExt cx="913676" cy="791280"/>
          </a:xfrm>
        </p:grpSpPr>
        <p:sp>
          <p:nvSpPr>
            <p:cNvPr name="Freeform 40" id="40"/>
            <p:cNvSpPr/>
            <p:nvPr/>
          </p:nvSpPr>
          <p:spPr>
            <a:xfrm flipH="false" flipV="false" rot="0">
              <a:off x="0" y="0"/>
              <a:ext cx="913680" cy="791274"/>
            </a:xfrm>
            <a:custGeom>
              <a:avLst/>
              <a:gdLst/>
              <a:ahLst/>
              <a:cxnLst/>
              <a:rect r="r" b="b" t="t" l="l"/>
              <a:pathLst>
                <a:path h="791274" w="913680">
                  <a:moveTo>
                    <a:pt x="0" y="0"/>
                  </a:moveTo>
                  <a:lnTo>
                    <a:pt x="913680" y="0"/>
                  </a:lnTo>
                  <a:lnTo>
                    <a:pt x="913680" y="791274"/>
                  </a:lnTo>
                  <a:lnTo>
                    <a:pt x="0" y="791274"/>
                  </a:lnTo>
                  <a:close/>
                </a:path>
              </a:pathLst>
            </a:custGeom>
            <a:blipFill>
              <a:blip r:embed="rId3">
                <a:alphaModFix amt="0"/>
              </a:blip>
              <a:stretch>
                <a:fillRect l="-61116" t="0" r="-61116" b="-1"/>
              </a:stretch>
            </a:blipFill>
          </p:spPr>
        </p:sp>
        <p:sp>
          <p:nvSpPr>
            <p:cNvPr name="TextBox 41" id="41"/>
            <p:cNvSpPr txBox="true"/>
            <p:nvPr/>
          </p:nvSpPr>
          <p:spPr>
            <a:xfrm>
              <a:off x="0" y="-28575"/>
              <a:ext cx="913676" cy="819855"/>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6</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5904054" y="7017277"/>
            <a:ext cx="2161137" cy="1874930"/>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PROBLEM INSIGHTS &amp; OPPORTUNITY AREAS</a:t>
              </a:r>
            </a:p>
          </p:txBody>
        </p:sp>
      </p:grpSp>
      <p:grpSp>
        <p:nvGrpSpPr>
          <p:cNvPr name="Group 22" id="22"/>
          <p:cNvGrpSpPr/>
          <p:nvPr/>
        </p:nvGrpSpPr>
        <p:grpSpPr>
          <a:xfrm rot="0">
            <a:off x="678656"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57400"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755543" y="2026769"/>
            <a:ext cx="5317928" cy="952258"/>
            <a:chOff x="0" y="0"/>
            <a:chExt cx="7090571" cy="1269678"/>
          </a:xfrm>
        </p:grpSpPr>
        <p:sp>
          <p:nvSpPr>
            <p:cNvPr name="Freeform 36" id="36"/>
            <p:cNvSpPr/>
            <p:nvPr/>
          </p:nvSpPr>
          <p:spPr>
            <a:xfrm flipH="false" flipV="false" rot="0">
              <a:off x="0" y="0"/>
              <a:ext cx="7090576" cy="1269682"/>
            </a:xfrm>
            <a:custGeom>
              <a:avLst/>
              <a:gdLst/>
              <a:ahLst/>
              <a:cxnLst/>
              <a:rect r="r" b="b" t="t" l="l"/>
              <a:pathLst>
                <a:path h="1269682" w="7090576">
                  <a:moveTo>
                    <a:pt x="0" y="0"/>
                  </a:moveTo>
                  <a:lnTo>
                    <a:pt x="7090576" y="0"/>
                  </a:lnTo>
                  <a:lnTo>
                    <a:pt x="7090576" y="1269682"/>
                  </a:lnTo>
                  <a:lnTo>
                    <a:pt x="0" y="1269682"/>
                  </a:lnTo>
                  <a:close/>
                </a:path>
              </a:pathLst>
            </a:custGeom>
            <a:blipFill>
              <a:blip r:embed="rId3">
                <a:alphaModFix amt="0"/>
              </a:blip>
              <a:stretch>
                <a:fillRect l="0" t="-255095" r="-170805" b="-234257"/>
              </a:stretch>
            </a:blipFill>
          </p:spPr>
        </p:sp>
        <p:sp>
          <p:nvSpPr>
            <p:cNvPr name="TextBox 37" id="37"/>
            <p:cNvSpPr txBox="true"/>
            <p:nvPr/>
          </p:nvSpPr>
          <p:spPr>
            <a:xfrm>
              <a:off x="0" y="-57150"/>
              <a:ext cx="7090571" cy="1326828"/>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Resources required to solve the problem</a:t>
              </a:r>
            </a:p>
          </p:txBody>
        </p:sp>
      </p:grpSp>
      <p:sp>
        <p:nvSpPr>
          <p:cNvPr name="TextBox 38" id="38"/>
          <p:cNvSpPr txBox="true"/>
          <p:nvPr/>
        </p:nvSpPr>
        <p:spPr>
          <a:xfrm rot="0">
            <a:off x="777408" y="3304044"/>
            <a:ext cx="13887213" cy="5616354"/>
          </a:xfrm>
          <a:prstGeom prst="rect">
            <a:avLst/>
          </a:prstGeom>
        </p:spPr>
        <p:txBody>
          <a:bodyPr anchor="t" rtlCol="false" tIns="0" lIns="0" bIns="0" rIns="0">
            <a:spAutoFit/>
          </a:bodyPr>
          <a:lstStyle/>
          <a:p>
            <a:pPr algn="l" marL="444628" indent="-222314" lvl="1">
              <a:lnSpc>
                <a:spcPts val="2948"/>
              </a:lnSpc>
              <a:buFont typeface="Arial"/>
              <a:buChar char="•"/>
            </a:pPr>
            <a:r>
              <a:rPr lang="en-US" b="true" sz="2456" spc="-1">
                <a:solidFill>
                  <a:srgbClr val="0070AD"/>
                </a:solidFill>
                <a:latin typeface="Aptos Bold"/>
                <a:ea typeface="Aptos Bold"/>
                <a:cs typeface="Aptos Bold"/>
                <a:sym typeface="Aptos Bold"/>
              </a:rPr>
              <a:t>HARDWARE / MECHANICAL</a:t>
            </a:r>
          </a:p>
          <a:p>
            <a:pPr algn="l" marL="359123" indent="-179561" lvl="1">
              <a:lnSpc>
                <a:spcPts val="2381"/>
              </a:lnSpc>
            </a:pPr>
            <a:r>
              <a:rPr lang="en-US" sz="1984" spc="-1">
                <a:solidFill>
                  <a:srgbClr val="2D3741"/>
                </a:solidFill>
                <a:latin typeface="Aptos"/>
                <a:ea typeface="Aptos"/>
                <a:cs typeface="Aptos"/>
                <a:sym typeface="Aptos"/>
              </a:rPr>
              <a:t>•  Foldable rack/frame with stable supports and enough garment spacing for airflow.</a:t>
            </a:r>
          </a:p>
          <a:p>
            <a:pPr algn="l" marL="359123" indent="-179561" lvl="1">
              <a:lnSpc>
                <a:spcPts val="2381"/>
              </a:lnSpc>
            </a:pPr>
            <a:r>
              <a:rPr lang="en-US" sz="1984" spc="-1">
                <a:solidFill>
                  <a:srgbClr val="2D3741"/>
                </a:solidFill>
                <a:latin typeface="Aptos"/>
                <a:ea typeface="Aptos"/>
                <a:cs typeface="Aptos"/>
                <a:sym typeface="Aptos"/>
              </a:rPr>
              <a:t>•  Dehumidifier module with suitable air intake/exhaust path; blower and duct / vents to circulate air around garments.</a:t>
            </a:r>
          </a:p>
          <a:p>
            <a:pPr algn="l" marL="359123" indent="-179561" lvl="1">
              <a:lnSpc>
                <a:spcPts val="2381"/>
              </a:lnSpc>
            </a:pPr>
            <a:r>
              <a:rPr lang="en-US" sz="1984" spc="-1">
                <a:solidFill>
                  <a:srgbClr val="2D3741"/>
                </a:solidFill>
                <a:latin typeface="Aptos"/>
                <a:ea typeface="Aptos"/>
                <a:cs typeface="Aptos"/>
                <a:sym typeface="Aptos"/>
              </a:rPr>
              <a:t>•  Drip tray, sloped drain channel and removable collection tank, kept physically separate from electrical components.</a:t>
            </a:r>
          </a:p>
          <a:p>
            <a:pPr algn="l" marL="359123" indent="-179561" lvl="1">
              <a:lnSpc>
                <a:spcPts val="2381"/>
              </a:lnSpc>
            </a:pPr>
            <a:r>
              <a:rPr lang="en-US" sz="1984" spc="-1">
                <a:solidFill>
                  <a:srgbClr val="2D3741"/>
                </a:solidFill>
                <a:latin typeface="Aptos"/>
                <a:ea typeface="Aptos"/>
                <a:cs typeface="Aptos"/>
                <a:sym typeface="Aptos"/>
              </a:rPr>
              <a:t>•  Enclosure, wiring, fuse/over-current protection, strain relief and appropriate thermal protection for any powered components.</a:t>
            </a:r>
          </a:p>
          <a:p>
            <a:pPr algn="l" marL="444628" indent="-222314" lvl="1">
              <a:lnSpc>
                <a:spcPts val="2948"/>
              </a:lnSpc>
            </a:pPr>
            <a:r>
              <a:rPr lang="en-US" b="true" sz="2456" spc="-1">
                <a:solidFill>
                  <a:srgbClr val="0070AD"/>
                </a:solidFill>
                <a:latin typeface="Aptos Bold"/>
                <a:ea typeface="Aptos Bold"/>
                <a:cs typeface="Aptos Bold"/>
                <a:sym typeface="Aptos Bold"/>
              </a:rPr>
              <a:t>SENSING &amp; CONTROL</a:t>
            </a:r>
          </a:p>
          <a:p>
            <a:pPr algn="l" marL="359123" indent="-179561" lvl="1">
              <a:lnSpc>
                <a:spcPts val="2381"/>
              </a:lnSpc>
            </a:pPr>
            <a:r>
              <a:rPr lang="en-US" sz="1984" spc="-1">
                <a:solidFill>
                  <a:srgbClr val="2D3741"/>
                </a:solidFill>
                <a:latin typeface="Aptos"/>
                <a:ea typeface="Aptos"/>
                <a:cs typeface="Aptos"/>
                <a:sym typeface="Aptos"/>
              </a:rPr>
              <a:t>•  Basic prototype: user-selectable mode and timer with clear start/stop indication.</a:t>
            </a:r>
          </a:p>
          <a:p>
            <a:pPr algn="l" marL="359123" indent="-179561" lvl="1">
              <a:lnSpc>
                <a:spcPts val="2381"/>
              </a:lnSpc>
            </a:pPr>
            <a:r>
              <a:rPr lang="en-US" sz="1984" spc="-1">
                <a:solidFill>
                  <a:srgbClr val="2D3741"/>
                </a:solidFill>
                <a:latin typeface="Aptos"/>
                <a:ea typeface="Aptos"/>
                <a:cs typeface="Aptos"/>
                <a:sym typeface="Aptos"/>
              </a:rPr>
              <a:t>•  Possible next-stage sensing: room temperature and relative humidity; tank-full detection; garment-dryness proxy only if validated.</a:t>
            </a:r>
          </a:p>
          <a:p>
            <a:pPr algn="l" marL="359123" indent="-179561" lvl="1">
              <a:lnSpc>
                <a:spcPts val="2381"/>
              </a:lnSpc>
            </a:pPr>
            <a:r>
              <a:rPr lang="en-US" sz="1984" spc="-1">
                <a:solidFill>
                  <a:srgbClr val="2D3741"/>
                </a:solidFill>
                <a:latin typeface="Aptos"/>
                <a:ea typeface="Aptos"/>
                <a:cs typeface="Aptos"/>
                <a:sym typeface="Aptos"/>
              </a:rPr>
              <a:t>•  Control logic: check safe state → start selected mode → run for set duration / validated cutoff condition → stop → prompt user to empty tank.</a:t>
            </a:r>
          </a:p>
          <a:p>
            <a:pPr algn="l" marL="359123" indent="-179561" lvl="1">
              <a:lnSpc>
                <a:spcPts val="2381"/>
              </a:lnSpc>
            </a:pPr>
            <a:r>
              <a:rPr lang="en-US" sz="1984" spc="-1">
                <a:solidFill>
                  <a:srgbClr val="2D3741"/>
                </a:solidFill>
                <a:latin typeface="Aptos"/>
                <a:ea typeface="Aptos"/>
                <a:cs typeface="Aptos"/>
                <a:sym typeface="Aptos"/>
              </a:rPr>
              <a:t>•  Do not claim automatic humidity or dryness cutoff unless the sensors, controller and logic are actually implemented.</a:t>
            </a:r>
          </a:p>
          <a:p>
            <a:pPr algn="l" marL="444628" indent="-222314" lvl="1">
              <a:lnSpc>
                <a:spcPts val="2948"/>
              </a:lnSpc>
            </a:pPr>
            <a:r>
              <a:rPr lang="en-US" b="true" sz="2456" spc="-1">
                <a:solidFill>
                  <a:srgbClr val="0070AD"/>
                </a:solidFill>
                <a:latin typeface="Aptos Bold"/>
                <a:ea typeface="Aptos Bold"/>
                <a:cs typeface="Aptos Bold"/>
                <a:sym typeface="Aptos Bold"/>
              </a:rPr>
              <a:t>PEOPLE, TOOLS &amp; TEST RESOURCES</a:t>
            </a:r>
          </a:p>
          <a:p>
            <a:pPr algn="l" marL="359123" indent="-179561" lvl="1">
              <a:lnSpc>
                <a:spcPts val="2381"/>
              </a:lnSpc>
            </a:pPr>
            <a:r>
              <a:rPr lang="en-US" sz="1984" spc="-1">
                <a:solidFill>
                  <a:srgbClr val="2D3741"/>
                </a:solidFill>
                <a:latin typeface="Aptos"/>
                <a:ea typeface="Aptos"/>
                <a:cs typeface="Aptos"/>
                <a:sym typeface="Aptos"/>
              </a:rPr>
              <a:t>•  CAD assembly and motion study; fabrication materials; electrical components; safe enclosed test area.</a:t>
            </a:r>
          </a:p>
          <a:p>
            <a:pPr algn="l" marL="359123" indent="-179561" lvl="1">
              <a:lnSpc>
                <a:spcPts val="2381"/>
              </a:lnSpc>
            </a:pPr>
            <a:r>
              <a:rPr lang="en-US" sz="1984" spc="-1">
                <a:solidFill>
                  <a:srgbClr val="2D3741"/>
                </a:solidFill>
                <a:latin typeface="Aptos"/>
                <a:ea typeface="Aptos"/>
                <a:cs typeface="Aptos"/>
                <a:sym typeface="Aptos"/>
              </a:rPr>
              <a:t>•  Baseline indoor rack, comparable test garments, weighing scale, plug-in energy meter, temperature/RH meter and stopwatch.</a:t>
            </a:r>
          </a:p>
          <a:p>
            <a:pPr algn="l" marL="359123" indent="-179561" lvl="1">
              <a:lnSpc>
                <a:spcPts val="2381"/>
              </a:lnSpc>
            </a:pPr>
            <a:r>
              <a:rPr lang="en-US" sz="1984" spc="-1">
                <a:solidFill>
                  <a:srgbClr val="2D3741"/>
                </a:solidFill>
                <a:latin typeface="Aptos"/>
                <a:ea typeface="Aptos"/>
                <a:cs typeface="Aptos"/>
                <a:sym typeface="Aptos"/>
              </a:rPr>
              <a:t>•  Team resources: mechanical design, airflow/power selection, control logic, integration, user feedback and documentation.</a:t>
            </a:r>
          </a:p>
        </p:txBody>
      </p:sp>
      <p:grpSp>
        <p:nvGrpSpPr>
          <p:cNvPr name="Group 39" id="39"/>
          <p:cNvGrpSpPr/>
          <p:nvPr/>
        </p:nvGrpSpPr>
        <p:grpSpPr>
          <a:xfrm rot="0">
            <a:off x="16888501" y="9614697"/>
            <a:ext cx="685257" cy="593465"/>
            <a:chOff x="0" y="0"/>
            <a:chExt cx="913676" cy="791286"/>
          </a:xfrm>
        </p:grpSpPr>
        <p:sp>
          <p:nvSpPr>
            <p:cNvPr name="Freeform 40" id="40"/>
            <p:cNvSpPr/>
            <p:nvPr/>
          </p:nvSpPr>
          <p:spPr>
            <a:xfrm flipH="false" flipV="false" rot="0">
              <a:off x="0" y="0"/>
              <a:ext cx="913680" cy="791280"/>
            </a:xfrm>
            <a:custGeom>
              <a:avLst/>
              <a:gdLst/>
              <a:ahLst/>
              <a:cxnLst/>
              <a:rect r="r" b="b" t="t" l="l"/>
              <a:pathLst>
                <a:path h="791280" w="913680">
                  <a:moveTo>
                    <a:pt x="0" y="0"/>
                  </a:moveTo>
                  <a:lnTo>
                    <a:pt x="913680" y="0"/>
                  </a:lnTo>
                  <a:lnTo>
                    <a:pt x="913680" y="791280"/>
                  </a:lnTo>
                  <a:lnTo>
                    <a:pt x="0" y="791280"/>
                  </a:lnTo>
                  <a:close/>
                </a:path>
              </a:pathLst>
            </a:custGeom>
            <a:blipFill>
              <a:blip r:embed="rId3">
                <a:alphaModFix amt="0"/>
              </a:blip>
              <a:stretch>
                <a:fillRect l="-61116" t="0" r="-61116" b="0"/>
              </a:stretch>
            </a:blipFill>
          </p:spPr>
        </p:sp>
        <p:sp>
          <p:nvSpPr>
            <p:cNvPr name="TextBox 41" id="41"/>
            <p:cNvSpPr txBox="true"/>
            <p:nvPr/>
          </p:nvSpPr>
          <p:spPr>
            <a:xfrm>
              <a:off x="0" y="-28575"/>
              <a:ext cx="913676" cy="819861"/>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&lt;number&gt;</a:t>
              </a:r>
            </a:p>
          </p:txBody>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6165758" y="7240881"/>
            <a:ext cx="1880584" cy="1631532"/>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INITIAL DIRECTION &amp; EXPECTED OUTCOME</a:t>
              </a:r>
            </a:p>
          </p:txBody>
        </p:sp>
      </p:grpSp>
      <p:grpSp>
        <p:nvGrpSpPr>
          <p:cNvPr name="Group 22" id="22"/>
          <p:cNvGrpSpPr/>
          <p:nvPr/>
        </p:nvGrpSpPr>
        <p:grpSpPr>
          <a:xfrm rot="0">
            <a:off x="691620"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57400"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755543" y="2125980"/>
            <a:ext cx="14401257" cy="753837"/>
            <a:chOff x="0" y="0"/>
            <a:chExt cx="19201676" cy="1005116"/>
          </a:xfrm>
        </p:grpSpPr>
        <p:sp>
          <p:nvSpPr>
            <p:cNvPr name="Freeform 36" id="36"/>
            <p:cNvSpPr/>
            <p:nvPr/>
          </p:nvSpPr>
          <p:spPr>
            <a:xfrm flipH="false" flipV="false" rot="0">
              <a:off x="0" y="0"/>
              <a:ext cx="19201681" cy="1005120"/>
            </a:xfrm>
            <a:custGeom>
              <a:avLst/>
              <a:gdLst/>
              <a:ahLst/>
              <a:cxnLst/>
              <a:rect r="r" b="b" t="t" l="l"/>
              <a:pathLst>
                <a:path h="1005120" w="19201681">
                  <a:moveTo>
                    <a:pt x="0" y="0"/>
                  </a:moveTo>
                  <a:lnTo>
                    <a:pt x="19201681" y="0"/>
                  </a:lnTo>
                  <a:lnTo>
                    <a:pt x="19201681" y="1005120"/>
                  </a:lnTo>
                  <a:lnTo>
                    <a:pt x="0" y="1005120"/>
                  </a:lnTo>
                  <a:close/>
                </a:path>
              </a:pathLst>
            </a:custGeom>
            <a:blipFill>
              <a:blip r:embed="rId3">
                <a:alphaModFix amt="0"/>
              </a:blip>
              <a:stretch>
                <a:fillRect l="0" t="-322239" r="0" b="-322239"/>
              </a:stretch>
            </a:blipFill>
          </p:spPr>
        </p:sp>
        <p:sp>
          <p:nvSpPr>
            <p:cNvPr name="TextBox 37" id="37"/>
            <p:cNvSpPr txBox="true"/>
            <p:nvPr/>
          </p:nvSpPr>
          <p:spPr>
            <a:xfrm>
              <a:off x="0" y="-57150"/>
              <a:ext cx="19201676" cy="1062266"/>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What Is Your Expected Outcome?</a:t>
              </a:r>
            </a:p>
          </p:txBody>
        </p:sp>
      </p:grpSp>
      <p:sp>
        <p:nvSpPr>
          <p:cNvPr name="TextBox 38" id="38"/>
          <p:cNvSpPr txBox="true"/>
          <p:nvPr/>
        </p:nvSpPr>
        <p:spPr>
          <a:xfrm rot="0">
            <a:off x="1378077" y="3136860"/>
            <a:ext cx="15574649" cy="4817882"/>
          </a:xfrm>
          <a:prstGeom prst="rect">
            <a:avLst/>
          </a:prstGeom>
        </p:spPr>
        <p:txBody>
          <a:bodyPr anchor="t" rtlCol="false" tIns="0" lIns="0" bIns="0" rIns="0">
            <a:spAutoFit/>
          </a:bodyPr>
          <a:lstStyle/>
          <a:p>
            <a:pPr algn="l" marL="454205" indent="-227102" lvl="1">
              <a:lnSpc>
                <a:spcPts val="3011"/>
              </a:lnSpc>
              <a:buFont typeface="Arial"/>
              <a:buChar char="•"/>
            </a:pPr>
            <a:r>
              <a:rPr lang="en-US" b="true" sz="2509" spc="-1">
                <a:solidFill>
                  <a:srgbClr val="0070AD"/>
                </a:solidFill>
                <a:latin typeface="Aptos Bold"/>
                <a:ea typeface="Aptos Bold"/>
                <a:cs typeface="Aptos Bold"/>
                <a:sym typeface="Aptos Bold"/>
              </a:rPr>
              <a:t>PROPOSED SYSTEM</a:t>
            </a:r>
          </a:p>
          <a:p>
            <a:pPr algn="l" marL="366858" indent="-183429" lvl="1">
              <a:lnSpc>
                <a:spcPts val="2432"/>
              </a:lnSpc>
            </a:pPr>
            <a:r>
              <a:rPr lang="en-US" sz="2027" spc="-1">
                <a:solidFill>
                  <a:srgbClr val="2D3741"/>
                </a:solidFill>
                <a:latin typeface="Aptos"/>
                <a:ea typeface="Aptos"/>
                <a:cs typeface="Aptos"/>
                <a:sym typeface="Aptos"/>
              </a:rPr>
              <a:t>•  Smart Foldable Dehumidifier-Based Clothes Dryer: a fold-away rack integrated with a dehumidifier and directed-airflow path.</a:t>
            </a:r>
          </a:p>
          <a:p>
            <a:pPr algn="l" marL="366858" indent="-183429" lvl="1">
              <a:lnSpc>
                <a:spcPts val="2432"/>
              </a:lnSpc>
            </a:pPr>
            <a:r>
              <a:rPr lang="en-US" sz="2027" spc="-1">
                <a:solidFill>
                  <a:srgbClr val="2D3741"/>
                </a:solidFill>
                <a:latin typeface="Aptos"/>
                <a:ea typeface="Aptos"/>
                <a:cs typeface="Aptos"/>
                <a:sym typeface="Aptos"/>
              </a:rPr>
              <a:t>•  Air is circulated around hung garments; moisture is removed by the dehumidifier and condensate is collected in a removable tank.</a:t>
            </a:r>
          </a:p>
          <a:p>
            <a:pPr algn="l" marL="366858" indent="-183429" lvl="1">
              <a:lnSpc>
                <a:spcPts val="2432"/>
              </a:lnSpc>
            </a:pPr>
            <a:r>
              <a:rPr lang="en-US" sz="2027" spc="-1">
                <a:solidFill>
                  <a:srgbClr val="2D3741"/>
                </a:solidFill>
                <a:latin typeface="Aptos"/>
                <a:ea typeface="Aptos"/>
                <a:cs typeface="Aptos"/>
                <a:sym typeface="Aptos"/>
              </a:rPr>
              <a:t>•  Timer and selectable modes support simple operation; sensors and automatic cutoff are future features unless implemented in the prototype.</a:t>
            </a:r>
          </a:p>
          <a:p>
            <a:pPr algn="l" marL="454205" indent="-227102" lvl="1">
              <a:lnSpc>
                <a:spcPts val="3011"/>
              </a:lnSpc>
            </a:pPr>
            <a:r>
              <a:rPr lang="en-US" b="true" sz="2509" spc="-1">
                <a:solidFill>
                  <a:srgbClr val="0070AD"/>
                </a:solidFill>
                <a:latin typeface="Aptos Bold"/>
                <a:ea typeface="Aptos Bold"/>
                <a:cs typeface="Aptos Bold"/>
                <a:sym typeface="Aptos Bold"/>
              </a:rPr>
              <a:t>TARGET IMPROVEMENTS</a:t>
            </a:r>
          </a:p>
          <a:p>
            <a:pPr algn="l" marL="366858" indent="-183429" lvl="1">
              <a:lnSpc>
                <a:spcPts val="2432"/>
              </a:lnSpc>
            </a:pPr>
            <a:r>
              <a:rPr lang="en-US" sz="2027" spc="-1">
                <a:solidFill>
                  <a:srgbClr val="2D3741"/>
                </a:solidFill>
                <a:latin typeface="Aptos"/>
                <a:ea typeface="Aptos"/>
                <a:cs typeface="Aptos"/>
                <a:sym typeface="Aptos"/>
              </a:rPr>
              <a:t>•  More reliable indoor drying in humid weather; smaller stored footprint; less dripping mess; easier run-time management.</a:t>
            </a:r>
          </a:p>
          <a:p>
            <a:pPr algn="l" marL="366858" indent="-183429" lvl="1">
              <a:lnSpc>
                <a:spcPts val="2432"/>
              </a:lnSpc>
            </a:pPr>
            <a:r>
              <a:rPr lang="en-US" sz="2027" spc="-1">
                <a:solidFill>
                  <a:srgbClr val="2D3741"/>
                </a:solidFill>
                <a:latin typeface="Aptos"/>
                <a:ea typeface="Aptos"/>
                <a:cs typeface="Aptos"/>
                <a:sym typeface="Aptos"/>
              </a:rPr>
              <a:t>•  Support fabric-appropriate operation and easy tank emptying / cleaning.</a:t>
            </a:r>
          </a:p>
          <a:p>
            <a:pPr algn="l" marL="366858" indent="-183429" lvl="1">
              <a:lnSpc>
                <a:spcPts val="2432"/>
              </a:lnSpc>
            </a:pPr>
            <a:r>
              <a:rPr lang="en-US" sz="2027" spc="-1">
                <a:solidFill>
                  <a:srgbClr val="2D3741"/>
                </a:solidFill>
                <a:latin typeface="Aptos"/>
                <a:ea typeface="Aptos"/>
                <a:cs typeface="Aptos"/>
                <a:sym typeface="Aptos"/>
              </a:rPr>
              <a:t>•  Design for compact homes and hostels; prioritize electrical separation from water, stable structure and service access.</a:t>
            </a:r>
          </a:p>
          <a:p>
            <a:pPr algn="l" marL="454205" indent="-227102" lvl="1">
              <a:lnSpc>
                <a:spcPts val="3011"/>
              </a:lnSpc>
            </a:pPr>
            <a:r>
              <a:rPr lang="en-US" b="true" sz="2509" spc="-1">
                <a:solidFill>
                  <a:srgbClr val="0070AD"/>
                </a:solidFill>
                <a:latin typeface="Aptos Bold"/>
                <a:ea typeface="Aptos Bold"/>
                <a:cs typeface="Aptos Bold"/>
                <a:sym typeface="Aptos Bold"/>
              </a:rPr>
              <a:t>VALIDATION PLAN — NO UNVERIFIED CLAIMS</a:t>
            </a:r>
          </a:p>
          <a:p>
            <a:pPr algn="l" marL="366858" indent="-183429" lvl="1">
              <a:lnSpc>
                <a:spcPts val="2432"/>
              </a:lnSpc>
            </a:pPr>
            <a:r>
              <a:rPr lang="en-US" sz="2027" spc="-1">
                <a:solidFill>
                  <a:srgbClr val="2D3741"/>
                </a:solidFill>
                <a:latin typeface="Aptos"/>
                <a:ea typeface="Aptos"/>
                <a:cs typeface="Aptos"/>
                <a:sym typeface="Aptos"/>
              </a:rPr>
              <a:t>•  Test the same garment type and load, similar initial water content, spacing and room conditions against a conventional rack.</a:t>
            </a:r>
          </a:p>
          <a:p>
            <a:pPr algn="l" marL="366858" indent="-183429" lvl="1">
              <a:lnSpc>
                <a:spcPts val="2432"/>
              </a:lnSpc>
            </a:pPr>
            <a:r>
              <a:rPr lang="en-US" sz="2027" spc="-1">
                <a:solidFill>
                  <a:srgbClr val="2D3741"/>
                </a:solidFill>
                <a:latin typeface="Aptos"/>
                <a:ea typeface="Aptos"/>
                <a:cs typeface="Aptos"/>
                <a:sym typeface="Aptos"/>
              </a:rPr>
              <a:t>•  Record time to a defined endpoint (e.g. mass stabilizes within a pre-set tolerance), energy in Wh, room temperature/RH and condensate collected.</a:t>
            </a:r>
          </a:p>
          <a:p>
            <a:pPr algn="l" marL="366858" indent="-183429" lvl="1">
              <a:lnSpc>
                <a:spcPts val="2432"/>
              </a:lnSpc>
            </a:pPr>
            <a:r>
              <a:rPr lang="en-US" sz="2027" spc="-1">
                <a:solidFill>
                  <a:srgbClr val="2D3741"/>
                </a:solidFill>
                <a:latin typeface="Aptos"/>
                <a:ea typeface="Aptos"/>
                <a:cs typeface="Aptos"/>
                <a:sym typeface="Aptos"/>
              </a:rPr>
              <a:t>•  Repeat trials and report mean plus variation; include a limitations note. CAD and a concept animation show design intent, not measured performance.</a:t>
            </a:r>
          </a:p>
        </p:txBody>
      </p:sp>
      <p:grpSp>
        <p:nvGrpSpPr>
          <p:cNvPr name="Group 39" id="39"/>
          <p:cNvGrpSpPr/>
          <p:nvPr/>
        </p:nvGrpSpPr>
        <p:grpSpPr>
          <a:xfrm rot="0">
            <a:off x="16888501" y="9614697"/>
            <a:ext cx="685257" cy="593465"/>
            <a:chOff x="0" y="0"/>
            <a:chExt cx="913676" cy="791286"/>
          </a:xfrm>
        </p:grpSpPr>
        <p:sp>
          <p:nvSpPr>
            <p:cNvPr name="Freeform 40" id="40"/>
            <p:cNvSpPr/>
            <p:nvPr/>
          </p:nvSpPr>
          <p:spPr>
            <a:xfrm flipH="false" flipV="false" rot="0">
              <a:off x="0" y="0"/>
              <a:ext cx="913680" cy="791280"/>
            </a:xfrm>
            <a:custGeom>
              <a:avLst/>
              <a:gdLst/>
              <a:ahLst/>
              <a:cxnLst/>
              <a:rect r="r" b="b" t="t" l="l"/>
              <a:pathLst>
                <a:path h="791280" w="913680">
                  <a:moveTo>
                    <a:pt x="0" y="0"/>
                  </a:moveTo>
                  <a:lnTo>
                    <a:pt x="913680" y="0"/>
                  </a:lnTo>
                  <a:lnTo>
                    <a:pt x="913680" y="791280"/>
                  </a:lnTo>
                  <a:lnTo>
                    <a:pt x="0" y="791280"/>
                  </a:lnTo>
                  <a:close/>
                </a:path>
              </a:pathLst>
            </a:custGeom>
            <a:blipFill>
              <a:blip r:embed="rId3">
                <a:alphaModFix amt="0"/>
              </a:blip>
              <a:stretch>
                <a:fillRect l="-61116" t="0" r="-61116" b="0"/>
              </a:stretch>
            </a:blipFill>
          </p:spPr>
        </p:sp>
        <p:sp>
          <p:nvSpPr>
            <p:cNvPr name="TextBox 41" id="41"/>
            <p:cNvSpPr txBox="true"/>
            <p:nvPr/>
          </p:nvSpPr>
          <p:spPr>
            <a:xfrm>
              <a:off x="0" y="-28575"/>
              <a:ext cx="913676" cy="819861"/>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&lt;number&gt;</a:t>
              </a:r>
            </a:p>
          </p:txBody>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254" y="472916"/>
            <a:ext cx="1248185" cy="1248185"/>
            <a:chOff x="0" y="0"/>
            <a:chExt cx="1664246" cy="1664246"/>
          </a:xfrm>
        </p:grpSpPr>
        <p:sp>
          <p:nvSpPr>
            <p:cNvPr name="Freeform 3" id="3"/>
            <p:cNvSpPr/>
            <p:nvPr/>
          </p:nvSpPr>
          <p:spPr>
            <a:xfrm flipH="false" flipV="false" rot="0">
              <a:off x="0" y="0"/>
              <a:ext cx="1664208" cy="1664208"/>
            </a:xfrm>
            <a:custGeom>
              <a:avLst/>
              <a:gdLst/>
              <a:ahLst/>
              <a:cxnLst/>
              <a:rect r="r" b="b" t="t" l="l"/>
              <a:pathLst>
                <a:path h="1664208" w="1664208">
                  <a:moveTo>
                    <a:pt x="0" y="221869"/>
                  </a:moveTo>
                  <a:cubicBezTo>
                    <a:pt x="0" y="99314"/>
                    <a:pt x="99314" y="0"/>
                    <a:pt x="221869" y="0"/>
                  </a:cubicBezTo>
                  <a:lnTo>
                    <a:pt x="1442339" y="0"/>
                  </a:lnTo>
                  <a:cubicBezTo>
                    <a:pt x="1564894" y="0"/>
                    <a:pt x="1664208" y="99314"/>
                    <a:pt x="1664208" y="221869"/>
                  </a:cubicBezTo>
                  <a:lnTo>
                    <a:pt x="1664208" y="1442339"/>
                  </a:lnTo>
                  <a:cubicBezTo>
                    <a:pt x="1664208" y="1564894"/>
                    <a:pt x="1564894" y="1664208"/>
                    <a:pt x="144233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39" y="576177"/>
            <a:ext cx="800824" cy="1041664"/>
            <a:chOff x="0" y="0"/>
            <a:chExt cx="1067765" cy="1388885"/>
          </a:xfrm>
        </p:grpSpPr>
        <p:sp>
          <p:nvSpPr>
            <p:cNvPr name="Freeform 5" id="5" descr="Genesis logo"/>
            <p:cNvSpPr/>
            <p:nvPr/>
          </p:nvSpPr>
          <p:spPr>
            <a:xfrm flipH="false" flipV="false" rot="0">
              <a:off x="0" y="0"/>
              <a:ext cx="1067816" cy="1388872"/>
            </a:xfrm>
            <a:custGeom>
              <a:avLst/>
              <a:gdLst/>
              <a:ahLst/>
              <a:cxnLst/>
              <a:rect r="r" b="b" t="t" l="l"/>
              <a:pathLst>
                <a:path h="1388872" w="1067816">
                  <a:moveTo>
                    <a:pt x="0" y="0"/>
                  </a:moveTo>
                  <a:lnTo>
                    <a:pt x="1067816" y="0"/>
                  </a:lnTo>
                  <a:lnTo>
                    <a:pt x="1067816" y="1388872"/>
                  </a:lnTo>
                  <a:lnTo>
                    <a:pt x="0" y="1388872"/>
                  </a:lnTo>
                  <a:lnTo>
                    <a:pt x="0" y="0"/>
                  </a:lnTo>
                  <a:close/>
                </a:path>
              </a:pathLst>
            </a:custGeom>
            <a:blipFill>
              <a:blip r:embed="rId2"/>
              <a:stretch>
                <a:fillRect l="0" t="-12" r="4" b="-13"/>
              </a:stretch>
            </a:blipFill>
          </p:spPr>
        </p:sp>
      </p:grpSp>
      <p:grpSp>
        <p:nvGrpSpPr>
          <p:cNvPr name="Group 6" id="6"/>
          <p:cNvGrpSpPr/>
          <p:nvPr/>
        </p:nvGrpSpPr>
        <p:grpSpPr>
          <a:xfrm rot="0">
            <a:off x="0" y="9532620"/>
            <a:ext cx="18287105" cy="753837"/>
            <a:chOff x="0" y="0"/>
            <a:chExt cx="24382806" cy="1005116"/>
          </a:xfrm>
        </p:grpSpPr>
        <p:sp>
          <p:nvSpPr>
            <p:cNvPr name="Freeform 7" id="7"/>
            <p:cNvSpPr/>
            <p:nvPr/>
          </p:nvSpPr>
          <p:spPr>
            <a:xfrm flipH="false" flipV="false" rot="0">
              <a:off x="0" y="0"/>
              <a:ext cx="24382857" cy="1005078"/>
            </a:xfrm>
            <a:custGeom>
              <a:avLst/>
              <a:gdLst/>
              <a:ahLst/>
              <a:cxnLst/>
              <a:rect r="r" b="b" t="t" l="l"/>
              <a:pathLst>
                <a:path h="1005078" w="24382857">
                  <a:moveTo>
                    <a:pt x="0" y="0"/>
                  </a:moveTo>
                  <a:lnTo>
                    <a:pt x="24382857" y="0"/>
                  </a:lnTo>
                  <a:lnTo>
                    <a:pt x="24382857" y="1005078"/>
                  </a:lnTo>
                  <a:lnTo>
                    <a:pt x="0" y="1005078"/>
                  </a:lnTo>
                  <a:close/>
                </a:path>
              </a:pathLst>
            </a:custGeom>
            <a:solidFill>
              <a:srgbClr val="052B35"/>
            </a:solidFill>
          </p:spPr>
        </p:sp>
      </p:grpSp>
      <p:grpSp>
        <p:nvGrpSpPr>
          <p:cNvPr name="Group 8" id="8"/>
          <p:cNvGrpSpPr/>
          <p:nvPr/>
        </p:nvGrpSpPr>
        <p:grpSpPr>
          <a:xfrm rot="0">
            <a:off x="3429000" y="9532620"/>
            <a:ext cx="11429105" cy="753837"/>
            <a:chOff x="0" y="0"/>
            <a:chExt cx="15238806" cy="1005116"/>
          </a:xfrm>
        </p:grpSpPr>
        <p:sp>
          <p:nvSpPr>
            <p:cNvPr name="Freeform 9" id="9"/>
            <p:cNvSpPr/>
            <p:nvPr/>
          </p:nvSpPr>
          <p:spPr>
            <a:xfrm flipH="false" flipV="false" rot="0">
              <a:off x="0" y="0"/>
              <a:ext cx="15238800" cy="1005120"/>
            </a:xfrm>
            <a:custGeom>
              <a:avLst/>
              <a:gdLst/>
              <a:ahLst/>
              <a:cxnLst/>
              <a:rect r="r" b="b" t="t" l="l"/>
              <a:pathLst>
                <a:path h="1005120" w="15238800">
                  <a:moveTo>
                    <a:pt x="0" y="0"/>
                  </a:moveTo>
                  <a:lnTo>
                    <a:pt x="15238800" y="0"/>
                  </a:lnTo>
                  <a:lnTo>
                    <a:pt x="15238800" y="1005120"/>
                  </a:lnTo>
                  <a:lnTo>
                    <a:pt x="0" y="1005120"/>
                  </a:lnTo>
                  <a:close/>
                </a:path>
              </a:pathLst>
            </a:custGeom>
            <a:blipFill>
              <a:blip r:embed="rId3">
                <a:alphaModFix amt="0"/>
              </a:blip>
              <a:stretch>
                <a:fillRect l="0" t="-245416" r="0" b="-245415"/>
              </a:stretch>
            </a:blipFill>
          </p:spPr>
        </p:sp>
        <p:sp>
          <p:nvSpPr>
            <p:cNvPr name="TextBox 10" id="10"/>
            <p:cNvSpPr txBox="true"/>
            <p:nvPr/>
          </p:nvSpPr>
          <p:spPr>
            <a:xfrm>
              <a:off x="0" y="-19050"/>
              <a:ext cx="15238806" cy="1024166"/>
            </a:xfrm>
            <a:prstGeom prst="rect">
              <a:avLst/>
            </a:prstGeom>
          </p:spPr>
          <p:txBody>
            <a:bodyPr anchor="ctr" rtlCol="false" tIns="0" lIns="0" bIns="0" rIns="0"/>
            <a:lstStyle/>
            <a:p>
              <a:pPr algn="ctr">
                <a:lnSpc>
                  <a:spcPts val="1889"/>
                </a:lnSpc>
              </a:pPr>
              <a:r>
                <a:rPr lang="en-US" sz="1575" spc="145">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01" y="9614697"/>
            <a:ext cx="685257" cy="593465"/>
            <a:chOff x="0" y="0"/>
            <a:chExt cx="913676" cy="791286"/>
          </a:xfrm>
        </p:grpSpPr>
        <p:sp>
          <p:nvSpPr>
            <p:cNvPr name="Freeform 12" id="1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13" id="13"/>
          <p:cNvGrpSpPr/>
          <p:nvPr/>
        </p:nvGrpSpPr>
        <p:grpSpPr>
          <a:xfrm rot="5400000">
            <a:off x="15904054" y="7017277"/>
            <a:ext cx="2161137" cy="1874930"/>
            <a:chOff x="0" y="0"/>
            <a:chExt cx="2881516" cy="2499906"/>
          </a:xfrm>
        </p:grpSpPr>
        <p:sp>
          <p:nvSpPr>
            <p:cNvPr name="Freeform 14" id="14"/>
            <p:cNvSpPr/>
            <p:nvPr/>
          </p:nvSpPr>
          <p:spPr>
            <a:xfrm flipH="false" flipV="false" rot="0">
              <a:off x="0" y="0"/>
              <a:ext cx="2881503" cy="2499868"/>
            </a:xfrm>
            <a:custGeom>
              <a:avLst/>
              <a:gdLst/>
              <a:ahLst/>
              <a:cxnLst/>
              <a:rect r="r" b="b" t="t" l="l"/>
              <a:pathLst>
                <a:path h="2499868" w="2881503">
                  <a:moveTo>
                    <a:pt x="0" y="1249934"/>
                  </a:moveTo>
                  <a:lnTo>
                    <a:pt x="624967" y="0"/>
                  </a:lnTo>
                  <a:lnTo>
                    <a:pt x="2256536" y="0"/>
                  </a:lnTo>
                  <a:lnTo>
                    <a:pt x="2881503" y="1249934"/>
                  </a:lnTo>
                  <a:lnTo>
                    <a:pt x="2256536" y="2499868"/>
                  </a:lnTo>
                  <a:lnTo>
                    <a:pt x="624967" y="2499868"/>
                  </a:lnTo>
                  <a:close/>
                </a:path>
              </a:pathLst>
            </a:custGeom>
            <a:blipFill>
              <a:blip r:embed="rId3">
                <a:alphaModFix amt="0"/>
              </a:blip>
              <a:stretch>
                <a:fillRect l="-61312" t="0" r="-61312" b="-1"/>
              </a:stretch>
            </a:blipFill>
            <a:ln w="23812" cap="sq">
              <a:solidFill>
                <a:srgbClr val="4FA278"/>
              </a:solidFill>
              <a:prstDash val="solid"/>
              <a:miter/>
            </a:ln>
          </p:spPr>
        </p:sp>
      </p:grpSp>
      <p:grpSp>
        <p:nvGrpSpPr>
          <p:cNvPr name="Group 15" id="15"/>
          <p:cNvGrpSpPr/>
          <p:nvPr/>
        </p:nvGrpSpPr>
        <p:grpSpPr>
          <a:xfrm rot="5400000">
            <a:off x="14614531" y="8011954"/>
            <a:ext cx="1448876" cy="1257710"/>
            <a:chOff x="0" y="0"/>
            <a:chExt cx="1931835" cy="1676946"/>
          </a:xfrm>
        </p:grpSpPr>
        <p:sp>
          <p:nvSpPr>
            <p:cNvPr name="Freeform 16" id="16"/>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7" id="17"/>
          <p:cNvGrpSpPr/>
          <p:nvPr/>
        </p:nvGrpSpPr>
        <p:grpSpPr>
          <a:xfrm rot="5400000">
            <a:off x="17357731" y="5748814"/>
            <a:ext cx="1448876" cy="1257710"/>
            <a:chOff x="0" y="0"/>
            <a:chExt cx="1931835" cy="1676946"/>
          </a:xfrm>
        </p:grpSpPr>
        <p:sp>
          <p:nvSpPr>
            <p:cNvPr name="Freeform 18" id="18"/>
            <p:cNvSpPr/>
            <p:nvPr/>
          </p:nvSpPr>
          <p:spPr>
            <a:xfrm flipH="false" flipV="false" rot="0">
              <a:off x="0" y="0"/>
              <a:ext cx="1931797" cy="1676908"/>
            </a:xfrm>
            <a:custGeom>
              <a:avLst/>
              <a:gdLst/>
              <a:ahLst/>
              <a:cxnLst/>
              <a:rect r="r" b="b" t="t" l="l"/>
              <a:pathLst>
                <a:path h="1676908" w="1931797">
                  <a:moveTo>
                    <a:pt x="0" y="838454"/>
                  </a:moveTo>
                  <a:lnTo>
                    <a:pt x="419227" y="0"/>
                  </a:lnTo>
                  <a:lnTo>
                    <a:pt x="1512570" y="0"/>
                  </a:lnTo>
                  <a:lnTo>
                    <a:pt x="1931797" y="838454"/>
                  </a:lnTo>
                  <a:lnTo>
                    <a:pt x="1512570" y="1676908"/>
                  </a:lnTo>
                  <a:lnTo>
                    <a:pt x="419227" y="1676908"/>
                  </a:lnTo>
                  <a:close/>
                </a:path>
              </a:pathLst>
            </a:custGeom>
            <a:blipFill>
              <a:blip r:embed="rId3">
                <a:alphaModFix amt="0"/>
              </a:blip>
              <a:stretch>
                <a:fillRect l="-61376" t="0" r="-61378" b="-2"/>
              </a:stretch>
            </a:blipFill>
            <a:ln w="23812" cap="sq">
              <a:solidFill>
                <a:srgbClr val="4FA278"/>
              </a:solidFill>
              <a:prstDash val="solid"/>
              <a:miter/>
            </a:ln>
          </p:spPr>
        </p:sp>
      </p:grpSp>
      <p:grpSp>
        <p:nvGrpSpPr>
          <p:cNvPr name="Group 19" id="19"/>
          <p:cNvGrpSpPr/>
          <p:nvPr/>
        </p:nvGrpSpPr>
        <p:grpSpPr>
          <a:xfrm rot="0">
            <a:off x="4869180" y="480060"/>
            <a:ext cx="11246577" cy="1233897"/>
            <a:chOff x="0" y="0"/>
            <a:chExt cx="14995436" cy="1645196"/>
          </a:xfrm>
        </p:grpSpPr>
        <p:sp>
          <p:nvSpPr>
            <p:cNvPr name="Freeform 20" id="20"/>
            <p:cNvSpPr/>
            <p:nvPr/>
          </p:nvSpPr>
          <p:spPr>
            <a:xfrm flipH="false" flipV="false" rot="0">
              <a:off x="0" y="0"/>
              <a:ext cx="14995440" cy="1645200"/>
            </a:xfrm>
            <a:custGeom>
              <a:avLst/>
              <a:gdLst/>
              <a:ahLst/>
              <a:cxnLst/>
              <a:rect r="r" b="b" t="t" l="l"/>
              <a:pathLst>
                <a:path h="1645200" w="14995440">
                  <a:moveTo>
                    <a:pt x="0" y="0"/>
                  </a:moveTo>
                  <a:lnTo>
                    <a:pt x="14995440" y="0"/>
                  </a:lnTo>
                  <a:lnTo>
                    <a:pt x="14995440" y="1645200"/>
                  </a:lnTo>
                  <a:lnTo>
                    <a:pt x="0" y="1645200"/>
                  </a:lnTo>
                  <a:close/>
                </a:path>
              </a:pathLst>
            </a:custGeom>
            <a:blipFill>
              <a:blip r:embed="rId3">
                <a:alphaModFix amt="0"/>
              </a:blip>
              <a:stretch>
                <a:fillRect l="0" t="-127599" r="0" b="-127599"/>
              </a:stretch>
            </a:blipFill>
          </p:spPr>
        </p:sp>
        <p:sp>
          <p:nvSpPr>
            <p:cNvPr name="TextBox 21" id="21"/>
            <p:cNvSpPr txBox="true"/>
            <p:nvPr/>
          </p:nvSpPr>
          <p:spPr>
            <a:xfrm>
              <a:off x="0" y="-19050"/>
              <a:ext cx="14995436" cy="1664246"/>
            </a:xfrm>
            <a:prstGeom prst="rect">
              <a:avLst/>
            </a:prstGeom>
          </p:spPr>
          <p:txBody>
            <a:bodyPr anchor="ctr" rtlCol="false" tIns="0" lIns="0" bIns="0" rIns="0"/>
            <a:lstStyle/>
            <a:p>
              <a:pPr algn="ctr">
                <a:lnSpc>
                  <a:spcPts val="4320"/>
                </a:lnSpc>
              </a:pPr>
              <a:r>
                <a:rPr lang="en-US" b="true" sz="3600" spc="145">
                  <a:solidFill>
                    <a:srgbClr val="052B35"/>
                  </a:solidFill>
                  <a:latin typeface="Cambria Bold"/>
                  <a:ea typeface="Cambria Bold"/>
                  <a:cs typeface="Cambria Bold"/>
                  <a:sym typeface="Cambria Bold"/>
                </a:rPr>
                <a:t>TEAM CONTRIBUTION</a:t>
              </a:r>
            </a:p>
          </p:txBody>
        </p:sp>
      </p:grpSp>
      <p:grpSp>
        <p:nvGrpSpPr>
          <p:cNvPr name="Group 22" id="22"/>
          <p:cNvGrpSpPr/>
          <p:nvPr/>
        </p:nvGrpSpPr>
        <p:grpSpPr>
          <a:xfrm rot="0">
            <a:off x="678656" y="472916"/>
            <a:ext cx="3922805" cy="1248185"/>
            <a:chOff x="0" y="0"/>
            <a:chExt cx="5230406" cy="1664246"/>
          </a:xfrm>
        </p:grpSpPr>
        <p:sp>
          <p:nvSpPr>
            <p:cNvPr name="Freeform 23" id="23"/>
            <p:cNvSpPr/>
            <p:nvPr/>
          </p:nvSpPr>
          <p:spPr>
            <a:xfrm flipH="false" flipV="false" rot="0">
              <a:off x="0" y="0"/>
              <a:ext cx="5230368" cy="1664208"/>
            </a:xfrm>
            <a:custGeom>
              <a:avLst/>
              <a:gdLst/>
              <a:ahLst/>
              <a:cxnLst/>
              <a:rect r="r" b="b" t="t" l="l"/>
              <a:pathLst>
                <a:path h="1664208" w="5230368">
                  <a:moveTo>
                    <a:pt x="0" y="221869"/>
                  </a:moveTo>
                  <a:cubicBezTo>
                    <a:pt x="0" y="99314"/>
                    <a:pt x="99314" y="0"/>
                    <a:pt x="221869" y="0"/>
                  </a:cubicBezTo>
                  <a:lnTo>
                    <a:pt x="5008499" y="0"/>
                  </a:lnTo>
                  <a:cubicBezTo>
                    <a:pt x="5131054" y="0"/>
                    <a:pt x="5230368" y="99314"/>
                    <a:pt x="5230368" y="221869"/>
                  </a:cubicBezTo>
                  <a:lnTo>
                    <a:pt x="5230368" y="1442339"/>
                  </a:lnTo>
                  <a:cubicBezTo>
                    <a:pt x="5230368" y="1564894"/>
                    <a:pt x="5131054" y="1664208"/>
                    <a:pt x="5008499" y="1664208"/>
                  </a:cubicBezTo>
                  <a:lnTo>
                    <a:pt x="221869" y="1664208"/>
                  </a:lnTo>
                  <a:cubicBezTo>
                    <a:pt x="99314" y="1664208"/>
                    <a:pt x="0" y="1564894"/>
                    <a:pt x="0" y="1442339"/>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7893" y="678656"/>
            <a:ext cx="960368" cy="836705"/>
            <a:chOff x="0" y="0"/>
            <a:chExt cx="1280490" cy="1115606"/>
          </a:xfrm>
        </p:grpSpPr>
        <p:sp>
          <p:nvSpPr>
            <p:cNvPr name="Freeform 25" id="25"/>
            <p:cNvSpPr/>
            <p:nvPr/>
          </p:nvSpPr>
          <p:spPr>
            <a:xfrm flipH="false" flipV="false" rot="0">
              <a:off x="0" y="0"/>
              <a:ext cx="1280414" cy="1115568"/>
            </a:xfrm>
            <a:custGeom>
              <a:avLst/>
              <a:gdLst/>
              <a:ahLst/>
              <a:cxnLst/>
              <a:rect r="r" b="b" t="t" l="l"/>
              <a:pathLst>
                <a:path h="1115568" w="1280414">
                  <a:moveTo>
                    <a:pt x="0" y="557784"/>
                  </a:moveTo>
                  <a:lnTo>
                    <a:pt x="278892" y="0"/>
                  </a:lnTo>
                  <a:lnTo>
                    <a:pt x="1001522" y="0"/>
                  </a:lnTo>
                  <a:lnTo>
                    <a:pt x="1280414" y="557784"/>
                  </a:lnTo>
                  <a:lnTo>
                    <a:pt x="1001649" y="1115568"/>
                  </a:lnTo>
                  <a:lnTo>
                    <a:pt x="278892" y="1115568"/>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300" y="822960"/>
            <a:ext cx="548097" cy="548097"/>
            <a:chOff x="0" y="0"/>
            <a:chExt cx="730796" cy="730796"/>
          </a:xfrm>
        </p:grpSpPr>
        <p:sp>
          <p:nvSpPr>
            <p:cNvPr name="Freeform 27" id="27" descr="Team icon"/>
            <p:cNvSpPr/>
            <p:nvPr/>
          </p:nvSpPr>
          <p:spPr>
            <a:xfrm flipH="false" flipV="false" rot="0">
              <a:off x="0" y="0"/>
              <a:ext cx="730758" cy="730758"/>
            </a:xfrm>
            <a:custGeom>
              <a:avLst/>
              <a:gdLst/>
              <a:ahLst/>
              <a:cxnLst/>
              <a:rect r="r" b="b" t="t" l="l"/>
              <a:pathLst>
                <a:path h="730758" w="730758">
                  <a:moveTo>
                    <a:pt x="0" y="0"/>
                  </a:moveTo>
                  <a:lnTo>
                    <a:pt x="730758" y="0"/>
                  </a:lnTo>
                  <a:lnTo>
                    <a:pt x="730758" y="730758"/>
                  </a:lnTo>
                  <a:lnTo>
                    <a:pt x="0" y="730758"/>
                  </a:lnTo>
                  <a:lnTo>
                    <a:pt x="0" y="0"/>
                  </a:lnTo>
                  <a:close/>
                </a:path>
              </a:pathLst>
            </a:custGeom>
            <a:blipFill>
              <a:blip r:embed="rId4"/>
              <a:stretch>
                <a:fillRect l="0" t="0" r="-5" b="-5"/>
              </a:stretch>
            </a:blipFill>
          </p:spPr>
        </p:sp>
      </p:grpSp>
      <p:grpSp>
        <p:nvGrpSpPr>
          <p:cNvPr name="Group 28" id="28"/>
          <p:cNvGrpSpPr/>
          <p:nvPr/>
        </p:nvGrpSpPr>
        <p:grpSpPr>
          <a:xfrm rot="0">
            <a:off x="2057400" y="576177"/>
            <a:ext cx="2440800" cy="1041664"/>
            <a:chOff x="0" y="0"/>
            <a:chExt cx="3254400" cy="1388885"/>
          </a:xfrm>
        </p:grpSpPr>
        <p:sp>
          <p:nvSpPr>
            <p:cNvPr name="Freeform 29" id="29"/>
            <p:cNvSpPr/>
            <p:nvPr/>
          </p:nvSpPr>
          <p:spPr>
            <a:xfrm flipH="false" flipV="false" rot="0">
              <a:off x="0" y="0"/>
              <a:ext cx="3254400" cy="1388880"/>
            </a:xfrm>
            <a:custGeom>
              <a:avLst/>
              <a:gdLst/>
              <a:ahLst/>
              <a:cxnLst/>
              <a:rect r="r" b="b" t="t" l="l"/>
              <a:pathLst>
                <a:path h="1388880" w="3254400">
                  <a:moveTo>
                    <a:pt x="0" y="0"/>
                  </a:moveTo>
                  <a:lnTo>
                    <a:pt x="3254400" y="0"/>
                  </a:lnTo>
                  <a:lnTo>
                    <a:pt x="3254400" y="1388880"/>
                  </a:lnTo>
                  <a:lnTo>
                    <a:pt x="0" y="1388880"/>
                  </a:lnTo>
                  <a:close/>
                </a:path>
              </a:pathLst>
            </a:custGeom>
            <a:blipFill>
              <a:blip r:embed="rId3">
                <a:alphaModFix amt="0"/>
              </a:blip>
              <a:stretch>
                <a:fillRect l="-4756" t="0" r="-4756" b="0"/>
              </a:stretch>
            </a:blipFill>
          </p:spPr>
        </p:sp>
        <p:sp>
          <p:nvSpPr>
            <p:cNvPr name="TextBox 30" id="30"/>
            <p:cNvSpPr txBox="true"/>
            <p:nvPr/>
          </p:nvSpPr>
          <p:spPr>
            <a:xfrm>
              <a:off x="0" y="-28575"/>
              <a:ext cx="3254400" cy="1417460"/>
            </a:xfrm>
            <a:prstGeom prst="rect">
              <a:avLst/>
            </a:prstGeom>
          </p:spPr>
          <p:txBody>
            <a:bodyPr anchor="ctr" rtlCol="false" tIns="0" lIns="0" bIns="0" rIns="0"/>
            <a:lstStyle/>
            <a:p>
              <a:pPr algn="l">
                <a:lnSpc>
                  <a:spcPts val="1620"/>
                </a:lnSpc>
              </a:pPr>
              <a:r>
                <a:rPr lang="en-US" b="true" sz="1350" spc="448">
                  <a:solidFill>
                    <a:srgbClr val="5B6F6B"/>
                  </a:solidFill>
                  <a:latin typeface="Calibri (MS) Bold"/>
                  <a:ea typeface="Calibri (MS) Bold"/>
                  <a:cs typeface="Calibri (MS) Bold"/>
                  <a:sym typeface="Calibri (MS) Bold"/>
                </a:rPr>
                <a:t>TEAM</a:t>
              </a:r>
            </a:p>
            <a:p>
              <a:pPr algn="l">
                <a:lnSpc>
                  <a:spcPts val="2700"/>
                </a:lnSpc>
              </a:pPr>
              <a:r>
                <a:rPr lang="en-US" b="true" sz="2250" spc="-1">
                  <a:solidFill>
                    <a:srgbClr val="026855"/>
                  </a:solidFill>
                  <a:latin typeface="Calibri (MS) Bold"/>
                  <a:ea typeface="Calibri (MS) Bold"/>
                  <a:cs typeface="Calibri (MS) Bold"/>
                  <a:sym typeface="Calibri (MS) Bold"/>
                </a:rPr>
                <a:t>Mind Crafters</a:t>
              </a:r>
            </a:p>
          </p:txBody>
        </p:sp>
      </p:grpSp>
      <p:grpSp>
        <p:nvGrpSpPr>
          <p:cNvPr name="Group 31" id="31"/>
          <p:cNvGrpSpPr/>
          <p:nvPr/>
        </p:nvGrpSpPr>
        <p:grpSpPr>
          <a:xfrm rot="0">
            <a:off x="822960" y="2194560"/>
            <a:ext cx="685257" cy="593465"/>
            <a:chOff x="0" y="0"/>
            <a:chExt cx="913676" cy="791286"/>
          </a:xfrm>
        </p:grpSpPr>
        <p:sp>
          <p:nvSpPr>
            <p:cNvPr name="Freeform 32" id="32"/>
            <p:cNvSpPr/>
            <p:nvPr/>
          </p:nvSpPr>
          <p:spPr>
            <a:xfrm flipH="false" flipV="false" rot="0">
              <a:off x="0" y="0"/>
              <a:ext cx="913638" cy="791337"/>
            </a:xfrm>
            <a:custGeom>
              <a:avLst/>
              <a:gdLst/>
              <a:ahLst/>
              <a:cxnLst/>
              <a:rect r="r" b="b" t="t" l="l"/>
              <a:pathLst>
                <a:path h="791337" w="913638">
                  <a:moveTo>
                    <a:pt x="0" y="395605"/>
                  </a:moveTo>
                  <a:lnTo>
                    <a:pt x="197866" y="0"/>
                  </a:lnTo>
                  <a:lnTo>
                    <a:pt x="715899" y="0"/>
                  </a:lnTo>
                  <a:lnTo>
                    <a:pt x="913638" y="395605"/>
                  </a:lnTo>
                  <a:lnTo>
                    <a:pt x="715899" y="791337"/>
                  </a:lnTo>
                  <a:lnTo>
                    <a:pt x="197866" y="791337"/>
                  </a:lnTo>
                  <a:close/>
                </a:path>
              </a:pathLst>
            </a:custGeom>
            <a:solidFill>
              <a:srgbClr val="7AC143"/>
            </a:solidFill>
          </p:spPr>
        </p:sp>
      </p:grpSp>
      <p:grpSp>
        <p:nvGrpSpPr>
          <p:cNvPr name="Group 33" id="33"/>
          <p:cNvGrpSpPr/>
          <p:nvPr/>
        </p:nvGrpSpPr>
        <p:grpSpPr>
          <a:xfrm rot="0">
            <a:off x="960120" y="2285276"/>
            <a:ext cx="410937" cy="410937"/>
            <a:chOff x="0" y="0"/>
            <a:chExt cx="547916" cy="547916"/>
          </a:xfrm>
        </p:grpSpPr>
        <p:sp>
          <p:nvSpPr>
            <p:cNvPr name="Freeform 34" id="34" descr="Lightbulb icon"/>
            <p:cNvSpPr/>
            <p:nvPr/>
          </p:nvSpPr>
          <p:spPr>
            <a:xfrm flipH="false" flipV="false" rot="0">
              <a:off x="0" y="0"/>
              <a:ext cx="547878" cy="547878"/>
            </a:xfrm>
            <a:custGeom>
              <a:avLst/>
              <a:gdLst/>
              <a:ahLst/>
              <a:cxnLst/>
              <a:rect r="r" b="b" t="t" l="l"/>
              <a:pathLst>
                <a:path h="547878" w="547878">
                  <a:moveTo>
                    <a:pt x="0" y="0"/>
                  </a:moveTo>
                  <a:lnTo>
                    <a:pt x="547878" y="0"/>
                  </a:lnTo>
                  <a:lnTo>
                    <a:pt x="547878" y="547878"/>
                  </a:lnTo>
                  <a:lnTo>
                    <a:pt x="0" y="547878"/>
                  </a:lnTo>
                  <a:lnTo>
                    <a:pt x="0" y="0"/>
                  </a:lnTo>
                  <a:close/>
                </a:path>
              </a:pathLst>
            </a:custGeom>
            <a:blipFill>
              <a:blip r:embed="rId5"/>
              <a:stretch>
                <a:fillRect l="0" t="0" r="-6" b="-6"/>
              </a:stretch>
            </a:blipFill>
          </p:spPr>
        </p:sp>
      </p:grpSp>
      <p:grpSp>
        <p:nvGrpSpPr>
          <p:cNvPr name="Group 35" id="35"/>
          <p:cNvGrpSpPr/>
          <p:nvPr/>
        </p:nvGrpSpPr>
        <p:grpSpPr>
          <a:xfrm rot="0">
            <a:off x="1755543" y="2125980"/>
            <a:ext cx="14401257" cy="753837"/>
            <a:chOff x="0" y="0"/>
            <a:chExt cx="19201676" cy="1005116"/>
          </a:xfrm>
        </p:grpSpPr>
        <p:sp>
          <p:nvSpPr>
            <p:cNvPr name="Freeform 36" id="36"/>
            <p:cNvSpPr/>
            <p:nvPr/>
          </p:nvSpPr>
          <p:spPr>
            <a:xfrm flipH="false" flipV="false" rot="0">
              <a:off x="0" y="0"/>
              <a:ext cx="19201681" cy="1005120"/>
            </a:xfrm>
            <a:custGeom>
              <a:avLst/>
              <a:gdLst/>
              <a:ahLst/>
              <a:cxnLst/>
              <a:rect r="r" b="b" t="t" l="l"/>
              <a:pathLst>
                <a:path h="1005120" w="19201681">
                  <a:moveTo>
                    <a:pt x="0" y="0"/>
                  </a:moveTo>
                  <a:lnTo>
                    <a:pt x="19201681" y="0"/>
                  </a:lnTo>
                  <a:lnTo>
                    <a:pt x="19201681" y="1005120"/>
                  </a:lnTo>
                  <a:lnTo>
                    <a:pt x="0" y="1005120"/>
                  </a:lnTo>
                  <a:close/>
                </a:path>
              </a:pathLst>
            </a:custGeom>
            <a:blipFill>
              <a:blip r:embed="rId3">
                <a:alphaModFix amt="0"/>
              </a:blip>
              <a:stretch>
                <a:fillRect l="0" t="-322239" r="0" b="-322239"/>
              </a:stretch>
            </a:blipFill>
          </p:spPr>
        </p:sp>
        <p:sp>
          <p:nvSpPr>
            <p:cNvPr name="TextBox 37" id="37"/>
            <p:cNvSpPr txBox="true"/>
            <p:nvPr/>
          </p:nvSpPr>
          <p:spPr>
            <a:xfrm>
              <a:off x="0" y="-57150"/>
              <a:ext cx="19201676" cy="1062266"/>
            </a:xfrm>
            <a:prstGeom prst="rect">
              <a:avLst/>
            </a:prstGeom>
          </p:spPr>
          <p:txBody>
            <a:bodyPr anchor="ctr" rtlCol="false" tIns="0" lIns="0" bIns="0" rIns="0"/>
            <a:lstStyle/>
            <a:p>
              <a:pPr algn="l">
                <a:lnSpc>
                  <a:spcPts val="3240"/>
                </a:lnSpc>
              </a:pPr>
              <a:r>
                <a:rPr lang="en-US" b="true" sz="2700" spc="-1">
                  <a:solidFill>
                    <a:srgbClr val="094542"/>
                  </a:solidFill>
                  <a:latin typeface="Calibri (MS) Bold"/>
                  <a:ea typeface="Calibri (MS) Bold"/>
                  <a:cs typeface="Calibri (MS) Bold"/>
                  <a:sym typeface="Calibri (MS) Bold"/>
                </a:rPr>
                <a:t>Who will handle which part of the execution</a:t>
              </a:r>
            </a:p>
          </p:txBody>
        </p:sp>
      </p:grpSp>
      <p:grpSp>
        <p:nvGrpSpPr>
          <p:cNvPr name="Group 38" id="38"/>
          <p:cNvGrpSpPr/>
          <p:nvPr/>
        </p:nvGrpSpPr>
        <p:grpSpPr>
          <a:xfrm rot="0">
            <a:off x="16888501" y="9614697"/>
            <a:ext cx="685257" cy="593465"/>
            <a:chOff x="0" y="0"/>
            <a:chExt cx="913676" cy="791286"/>
          </a:xfrm>
        </p:grpSpPr>
        <p:sp>
          <p:nvSpPr>
            <p:cNvPr name="Freeform 39" id="39"/>
            <p:cNvSpPr/>
            <p:nvPr/>
          </p:nvSpPr>
          <p:spPr>
            <a:xfrm flipH="false" flipV="false" rot="0">
              <a:off x="0" y="0"/>
              <a:ext cx="913680" cy="791280"/>
            </a:xfrm>
            <a:custGeom>
              <a:avLst/>
              <a:gdLst/>
              <a:ahLst/>
              <a:cxnLst/>
              <a:rect r="r" b="b" t="t" l="l"/>
              <a:pathLst>
                <a:path h="791280" w="913680">
                  <a:moveTo>
                    <a:pt x="0" y="0"/>
                  </a:moveTo>
                  <a:lnTo>
                    <a:pt x="913680" y="0"/>
                  </a:lnTo>
                  <a:lnTo>
                    <a:pt x="913680" y="791280"/>
                  </a:lnTo>
                  <a:lnTo>
                    <a:pt x="0" y="791280"/>
                  </a:lnTo>
                  <a:close/>
                </a:path>
              </a:pathLst>
            </a:custGeom>
            <a:blipFill>
              <a:blip r:embed="rId3">
                <a:alphaModFix amt="0"/>
              </a:blip>
              <a:stretch>
                <a:fillRect l="-61116" t="0" r="-61116" b="0"/>
              </a:stretch>
            </a:blipFill>
          </p:spPr>
        </p:sp>
        <p:sp>
          <p:nvSpPr>
            <p:cNvPr name="TextBox 40" id="40"/>
            <p:cNvSpPr txBox="true"/>
            <p:nvPr/>
          </p:nvSpPr>
          <p:spPr>
            <a:xfrm>
              <a:off x="0" y="-28575"/>
              <a:ext cx="913676" cy="819861"/>
            </a:xfrm>
            <a:prstGeom prst="rect">
              <a:avLst/>
            </a:prstGeom>
          </p:spPr>
          <p:txBody>
            <a:bodyPr anchor="ctr" rtlCol="false" tIns="0" lIns="0" bIns="0" rIns="0"/>
            <a:lstStyle/>
            <a:p>
              <a:pPr algn="ctr">
                <a:lnSpc>
                  <a:spcPts val="1980"/>
                </a:lnSpc>
              </a:pPr>
              <a:r>
                <a:rPr lang="en-US" b="true" sz="1650" spc="-1">
                  <a:solidFill>
                    <a:srgbClr val="052B35"/>
                  </a:solidFill>
                  <a:latin typeface="Calibri (MS) Bold"/>
                  <a:ea typeface="Calibri (MS) Bold"/>
                  <a:cs typeface="Calibri (MS) Bold"/>
                  <a:sym typeface="Calibri (MS) Bold"/>
                </a:rPr>
                <a:t>&lt;number&gt;</a:t>
              </a:r>
            </a:p>
          </p:txBody>
        </p:sp>
      </p:grpSp>
      <p:graphicFrame>
        <p:nvGraphicFramePr>
          <p:cNvPr name="Table 41" id="41"/>
          <p:cNvGraphicFramePr>
            <a:graphicFrameLocks noGrp="true"/>
          </p:cNvGraphicFramePr>
          <p:nvPr/>
        </p:nvGraphicFramePr>
        <p:xfrm>
          <a:off x="822960" y="3291840"/>
          <a:ext cx="16611600" cy="4879250"/>
        </p:xfrm>
        <a:graphic>
          <a:graphicData uri="http://schemas.openxmlformats.org/drawingml/2006/table">
            <a:tbl>
              <a:tblPr/>
              <a:tblGrid>
                <a:gridCol w="4523337"/>
                <a:gridCol w="3842282"/>
                <a:gridCol w="8245981"/>
              </a:tblGrid>
              <a:tr h="821027">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Team Member</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Responsibility in Execution</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r>
              <a:tr h="801665">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1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519">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2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519">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3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519">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4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bl>
          </a:graphicData>
        </a:graphic>
      </p:graphicFrame>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DAHXiV-55rs</dc:identifier>
  <dcterms:modified xsi:type="dcterms:W3CDTF">2011-08-01T06:04:30Z</dcterms:modified>
  <cp:revision>1</cp:revision>
  <dc:title>2</dc:title>
</cp:coreProperties>
</file>